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F2A900">
              <a:alpha val="12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4320" y="3474720"/>
            <a:ext cx="1828800" cy="1828800"/>
          </a:xfrm>
          <a:prstGeom prst="ellipse">
            <a:avLst/>
          </a:prstGeom>
          <a:solidFill>
            <a:srgbClr val="F2A900">
              <a:alpha val="1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EMORY UNIVERSITY  ·  GERMAN STUDIES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6858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of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Linguistic Indifference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American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College Context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closely are you really reading?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988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Mathew Kang  ·  Umi Pak  ·  Prof. Hiram H. Maxim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12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was the last time you read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012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something word for word?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23774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2377440"/>
            <a:ext cx="265176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786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2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–7.5%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3101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English &amp; Literature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degrees, 2012–2014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23774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2377440"/>
            <a:ext cx="265176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5786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2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 sec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83280" y="33101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spent reading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webpage before leaving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23774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2377440"/>
            <a:ext cx="265176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5786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2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 use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17920" y="33101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increasingly used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replace reading &amp;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8097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American Academy of Arts &amp; Sciences Humanities Indicators; Nielsen Norman Group; Konukati (2024)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Linguistic Indifference (LI)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896112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12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dismissal or diminishment of the role of language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12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material component for knowledge-making."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2585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Gramling &amp; Malakaj, The Pipestone Group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487168"/>
            <a:ext cx="269748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487168"/>
            <a:ext cx="64008" cy="239572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5786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" y="30906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Skimming over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reading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" y="3749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test culture trains students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"right answer," not analyze text.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2487168"/>
            <a:ext cx="269748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2487168"/>
            <a:ext cx="64008" cy="239572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5786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56432" y="30906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form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meaning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3749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words as transparent vehicles for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information, not as tools for knowledge-making.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2487168"/>
            <a:ext cx="269748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487168"/>
            <a:ext cx="64008" cy="239572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25786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36792" y="30906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to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36792" y="3749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generative AI to bypass the cognitive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of reading and writing analytically.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2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building the first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12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to measure LI.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has never been rigorously measured in students. This study is the first attempt to create an empirical, validated instrument — the Linguistic Indifference Scale — to understand how students engage with language and academic texts.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401568"/>
            <a:ext cx="64008" cy="30175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401568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linguistically indifferent are Emory undergrads?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858768"/>
            <a:ext cx="64008" cy="30175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858768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close reading habits, AI use, and language attitudes form distinct measurable dimensions?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4315968"/>
            <a:ext cx="64008" cy="30175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315968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LI show up in real-world text analysis tasks?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987552"/>
            <a:ext cx="1463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87552"/>
            <a:ext cx="146304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143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26480" y="1444752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Cross-observational,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survey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999232"/>
            <a:ext cx="1463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999232"/>
            <a:ext cx="146304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26480" y="3456432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scale + qualitative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response task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987552"/>
            <a:ext cx="1463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987552"/>
            <a:ext cx="146304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1143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26680" y="1444752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 Emory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 participants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2999232"/>
            <a:ext cx="1463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2999232"/>
            <a:ext cx="146304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26680" y="3456432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Emory IRB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PARTICIPATION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30-minute online survey. That's it.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331720" y="2267712"/>
            <a:ext cx="182880" cy="73152"/>
          </a:xfrm>
          <a:prstGeom prst="rect">
            <a:avLst/>
          </a:prstGeom>
          <a:solidFill>
            <a:srgbClr val="5B6680"/>
          </a:solidFill>
          <a:ln w="12700">
            <a:solidFill>
              <a:srgbClr val="5B66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78308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83080"/>
            <a:ext cx="64008" cy="301752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01952"/>
            <a:ext cx="594360" cy="594360"/>
          </a:xfrm>
          <a:prstGeom prst="ellipse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01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sign the digital consent form. Confirm your eligibility.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2267712"/>
            <a:ext cx="182880" cy="73152"/>
          </a:xfrm>
          <a:prstGeom prst="rect">
            <a:avLst/>
          </a:prstGeom>
          <a:solidFill>
            <a:srgbClr val="5B6680"/>
          </a:solidFill>
          <a:ln w="12700">
            <a:solidFill>
              <a:srgbClr val="5B6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78308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783080"/>
            <a:ext cx="64008" cy="301752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1901952"/>
            <a:ext cx="594360" cy="594360"/>
          </a:xfrm>
          <a:prstGeom prst="ellipse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901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2606040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2918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questions about your major, year, language background &amp; AI use.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2267712"/>
            <a:ext cx="182880" cy="73152"/>
          </a:xfrm>
          <a:prstGeom prst="rect">
            <a:avLst/>
          </a:prstGeom>
          <a:solidFill>
            <a:srgbClr val="5B6680"/>
          </a:solidFill>
          <a:ln w="12700">
            <a:solidFill>
              <a:srgbClr val="5B6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78308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783080"/>
            <a:ext cx="64008" cy="301752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1901952"/>
            <a:ext cx="594360" cy="594360"/>
          </a:xfrm>
          <a:prstGeom prst="ellipse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901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2606040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Scale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2918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attitude statements about reading, word choice &amp; AI — rate your agreement.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178308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0840" y="1783080"/>
            <a:ext cx="64008" cy="301752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1901952"/>
            <a:ext cx="594360" cy="594360"/>
          </a:xfrm>
          <a:prstGeom prst="ellipse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1901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2606040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32918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thoughts on 2 real social media posts. No right or wrong answers!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718304"/>
            <a:ext cx="8321040" cy="310896"/>
          </a:xfrm>
          <a:prstGeom prst="rect">
            <a:avLst/>
          </a:prstGeom>
          <a:solidFill>
            <a:srgbClr val="012169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274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Emory undergrad, 18 or older, fluent in English  ·  Completely anonymous  ·  No compensation, but your data helps improve education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F2A900">
              <a:alpha val="1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PARTICIPATE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about 30 minutes.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Anonymous. No compensation needed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responses help build better education.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2A900">
              <a:alpha val="85000"/>
            </a:srgbClr>
          </a:solidFill>
          <a:ln w="19050">
            <a:solidFill>
              <a:srgbClr val="F2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tinyurl.com/mtaccdy8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us:  </a:t>
            </a:r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MWKANG@emory.edu  ·  umi.pak@emory.edu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Emory University  ·  German Studies  ·  Spring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77840" y="548640"/>
            <a:ext cx="3017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brave-dazzling-cannon/mnt/teach-in/handout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658368"/>
            <a:ext cx="2743200" cy="2743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7784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your phone camera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Patterns of Linguistic Indifference in the American College Context</dc:title>
  <dc:subject>PptxGenJS Presentation</dc:subject>
  <dc:creator>PptxGenJS</dc:creator>
  <cp:lastModifiedBy>PptxGenJS</cp:lastModifiedBy>
  <cp:revision>1</cp:revision>
  <dcterms:created xsi:type="dcterms:W3CDTF">2026-04-15T02:56:13Z</dcterms:created>
  <dcterms:modified xsi:type="dcterms:W3CDTF">2026-04-15T02:56:13Z</dcterms:modified>
</cp:coreProperties>
</file>