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Couldn't afford a provider</c:v>
                </c:pt>
              </c:strCache>
            </c:strRef>
          </c:tx>
          <c:spPr>
            <a:solidFill>
              <a:srgbClr val="8D7AF5"/>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All Respondents</c:v>
                  </c:pt>
                  <c:pt idx="1">
                    <c:v>Ages 18–29</c:v>
                  </c:pt>
                  <c:pt idx="2">
                    <c:v>Ages 30–49</c:v>
                  </c:pt>
                  <c:pt idx="3">
                    <c:v>Ages 50+</c:v>
                  </c:pt>
                  <c:pt idx="4">
                    <c:v>Income &lt;$40k</c:v>
                  </c:pt>
                  <c:pt idx="5">
                    <c:v>Income $40k–$89k</c:v>
                  </c:pt>
                  <c:pt idx="6">
                    <c:v>Income $90k+</c:v>
                  </c:pt>
                </c:lvl>
              </c:multiLvlStrCache>
            </c:multiLvlStrRef>
          </c:cat>
          <c:val>
            <c:numRef>
              <c:f>Sheet1!$B$2:$B$8</c:f>
              <c:numCache>
                <c:formatCode>General</c:formatCode>
                <c:ptCount val="7"/>
                <c:pt idx="0">
                  <c:v>19</c:v>
                </c:pt>
                <c:pt idx="1">
                  <c:v>29</c:v>
                </c:pt>
                <c:pt idx="2">
                  <c:v>19</c:v>
                </c:pt>
                <c:pt idx="3">
                  <c:v>12</c:v>
                </c:pt>
                <c:pt idx="4">
                  <c:v>32</c:v>
                </c:pt>
                <c:pt idx="5">
                  <c:v>17</c:v>
                </c:pt>
                <c:pt idx="6">
                  <c:v>11</c:v>
                </c:pt>
              </c:numCache>
            </c:numRef>
          </c:val>
        </c:ser>
        <c:ser>
          <c:idx val="1"/>
          <c:order val="1"/>
          <c:tx>
            <c:strRef>
              <c:f>Sheet1!$C$1</c:f>
              <c:strCache>
                <c:ptCount val="1"/>
                <c:pt idx="0">
                  <c:v>No regular provider/couldn't get appointment</c:v>
                </c:pt>
              </c:strCache>
            </c:strRef>
          </c:tx>
          <c:spPr>
            <a:solidFill>
              <a:srgbClr val="1A1A2E"/>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All Respondents</c:v>
                  </c:pt>
                  <c:pt idx="1">
                    <c:v>Ages 18–29</c:v>
                  </c:pt>
                  <c:pt idx="2">
                    <c:v>Ages 30–49</c:v>
                  </c:pt>
                  <c:pt idx="3">
                    <c:v>Ages 50+</c:v>
                  </c:pt>
                  <c:pt idx="4">
                    <c:v>Income &lt;$40k</c:v>
                  </c:pt>
                  <c:pt idx="5">
                    <c:v>Income $40k–$89k</c:v>
                  </c:pt>
                  <c:pt idx="6">
                    <c:v>Income $90k+</c:v>
                  </c:pt>
                </c:lvl>
              </c:multiLvlStrCache>
            </c:multiLvlStrRef>
          </c:cat>
          <c:val>
            <c:numRef>
              <c:f>Sheet1!$C$2:$C$8</c:f>
              <c:numCache>
                <c:formatCode>General</c:formatCode>
                <c:ptCount val="7"/>
                <c:pt idx="0">
                  <c:v>18</c:v>
                </c:pt>
                <c:pt idx="1">
                  <c:v>38</c:v>
                </c:pt>
                <c:pt idx="2">
                  <c:v>17</c:v>
                </c:pt>
                <c:pt idx="3">
                  <c:v>6</c:v>
                </c:pt>
                <c:pt idx="4">
                  <c:v>25</c:v>
                </c:pt>
                <c:pt idx="5">
                  <c:v>22</c:v>
                </c:pt>
                <c:pt idx="6">
                  <c:v>8</c:v>
                </c:pt>
              </c:numCache>
            </c:numRef>
          </c:val>
        </c:ser>
        <c:dLbls>
          <c:numFmt formatCode="#,##0" sourceLinked="0"/>
          <c:txPr>
            <a:bodyPr/>
            <a:lstStyle/>
            <a:p>
              <a:pPr>
                <a:defRPr b="0" i="0" strike="noStrike" sz="9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Physical health</c:v>
                </c:pt>
              </c:strCache>
            </c:strRef>
          </c:tx>
          <c:spPr>
            <a:solidFill>
              <a:srgbClr val="8D7AF5"/>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All</c:v>
                  </c:pt>
                  <c:pt idx="1">
                    <c:v>Ages 18–29</c:v>
                  </c:pt>
                  <c:pt idx="2">
                    <c:v>Ages 30–49</c:v>
                  </c:pt>
                  <c:pt idx="3">
                    <c:v>Ages 50–64</c:v>
                  </c:pt>
                  <c:pt idx="4">
                    <c:v>Ages 65+</c:v>
                  </c:pt>
                  <c:pt idx="5">
                    <c:v>Black</c:v>
                  </c:pt>
                  <c:pt idx="6">
                    <c:v>Hispanic</c:v>
                  </c:pt>
                  <c:pt idx="7">
                    <c:v>White</c:v>
                  </c:pt>
                  <c:pt idx="8">
                    <c:v>Insured</c:v>
                  </c:pt>
                  <c:pt idx="9">
                    <c:v>Uninsured</c:v>
                  </c:pt>
                </c:lvl>
              </c:multiLvlStrCache>
            </c:multiLvlStrRef>
          </c:cat>
          <c:val>
            <c:numRef>
              <c:f>Sheet1!$B$2:$B$11</c:f>
              <c:numCache>
                <c:formatCode>General</c:formatCode>
                <c:ptCount val="10"/>
                <c:pt idx="0">
                  <c:v>29</c:v>
                </c:pt>
                <c:pt idx="1">
                  <c:v>36</c:v>
                </c:pt>
                <c:pt idx="2">
                  <c:v>29</c:v>
                </c:pt>
                <c:pt idx="3">
                  <c:v>27</c:v>
                </c:pt>
                <c:pt idx="4">
                  <c:v>24</c:v>
                </c:pt>
                <c:pt idx="5">
                  <c:v>28</c:v>
                </c:pt>
                <c:pt idx="6">
                  <c:v>27</c:v>
                </c:pt>
                <c:pt idx="7">
                  <c:v>27</c:v>
                </c:pt>
                <c:pt idx="8">
                  <c:v>28</c:v>
                </c:pt>
                <c:pt idx="9">
                  <c:v>31</c:v>
                </c:pt>
              </c:numCache>
            </c:numRef>
          </c:val>
        </c:ser>
        <c:ser>
          <c:idx val="1"/>
          <c:order val="1"/>
          <c:tx>
            <c:strRef>
              <c:f>Sheet1!$C$1</c:f>
              <c:strCache>
                <c:ptCount val="1"/>
                <c:pt idx="0">
                  <c:v>Mental health</c:v>
                </c:pt>
              </c:strCache>
            </c:strRef>
          </c:tx>
          <c:spPr>
            <a:solidFill>
              <a:srgbClr val="1A1A2E"/>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All</c:v>
                  </c:pt>
                  <c:pt idx="1">
                    <c:v>Ages 18–29</c:v>
                  </c:pt>
                  <c:pt idx="2">
                    <c:v>Ages 30–49</c:v>
                  </c:pt>
                  <c:pt idx="3">
                    <c:v>Ages 50–64</c:v>
                  </c:pt>
                  <c:pt idx="4">
                    <c:v>Ages 65+</c:v>
                  </c:pt>
                  <c:pt idx="5">
                    <c:v>Black</c:v>
                  </c:pt>
                  <c:pt idx="6">
                    <c:v>Hispanic</c:v>
                  </c:pt>
                  <c:pt idx="7">
                    <c:v>White</c:v>
                  </c:pt>
                  <c:pt idx="8">
                    <c:v>Insured</c:v>
                  </c:pt>
                  <c:pt idx="9">
                    <c:v>Uninsured</c:v>
                  </c:pt>
                </c:lvl>
              </c:multiLvlStrCache>
            </c:multiLvlStrRef>
          </c:cat>
          <c:val>
            <c:numRef>
              <c:f>Sheet1!$C$2:$C$11</c:f>
              <c:numCache>
                <c:formatCode>General</c:formatCode>
                <c:ptCount val="10"/>
                <c:pt idx="0">
                  <c:v>16</c:v>
                </c:pt>
                <c:pt idx="1">
                  <c:v>28</c:v>
                </c:pt>
                <c:pt idx="2">
                  <c:v>18</c:v>
                </c:pt>
                <c:pt idx="3">
                  <c:v>9</c:v>
                </c:pt>
                <c:pt idx="4">
                  <c:v>8</c:v>
                </c:pt>
                <c:pt idx="5">
                  <c:v>21</c:v>
                </c:pt>
                <c:pt idx="6">
                  <c:v>19</c:v>
                </c:pt>
                <c:pt idx="7">
                  <c:v>12</c:v>
                </c:pt>
                <c:pt idx="8">
                  <c:v>14</c:v>
                </c:pt>
                <c:pt idx="9">
                  <c:v>30</c:v>
                </c:pt>
              </c:numCache>
            </c:numRef>
          </c:val>
        </c:ser>
        <c:ser>
          <c:idx val="2"/>
          <c:order val="2"/>
          <c:tx>
            <c:strRef>
              <c:f>Sheet1!$D$1</c:f>
              <c:strCache>
                <c:ptCount val="1"/>
                <c:pt idx="0">
                  <c:v>Physical or mental health</c:v>
                </c:pt>
              </c:strCache>
            </c:strRef>
          </c:tx>
          <c:spPr>
            <a:solidFill>
              <a:srgbClr val="D4CCFF"/>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All</c:v>
                  </c:pt>
                  <c:pt idx="1">
                    <c:v>Ages 18–29</c:v>
                  </c:pt>
                  <c:pt idx="2">
                    <c:v>Ages 30–49</c:v>
                  </c:pt>
                  <c:pt idx="3">
                    <c:v>Ages 50–64</c:v>
                  </c:pt>
                  <c:pt idx="4">
                    <c:v>Ages 65+</c:v>
                  </c:pt>
                  <c:pt idx="5">
                    <c:v>Black</c:v>
                  </c:pt>
                  <c:pt idx="6">
                    <c:v>Hispanic</c:v>
                  </c:pt>
                  <c:pt idx="7">
                    <c:v>White</c:v>
                  </c:pt>
                  <c:pt idx="8">
                    <c:v>Insured</c:v>
                  </c:pt>
                  <c:pt idx="9">
                    <c:v>Uninsured</c:v>
                  </c:pt>
                </c:lvl>
              </c:multiLvlStrCache>
            </c:multiLvlStrRef>
          </c:cat>
          <c:val>
            <c:numRef>
              <c:f>Sheet1!$D$2:$D$11</c:f>
              <c:numCache>
                <c:formatCode>General</c:formatCode>
                <c:ptCount val="10"/>
                <c:pt idx="0">
                  <c:v>32</c:v>
                </c:pt>
                <c:pt idx="1">
                  <c:v>41</c:v>
                </c:pt>
                <c:pt idx="2">
                  <c:v>33</c:v>
                </c:pt>
                <c:pt idx="3">
                  <c:v>28</c:v>
                </c:pt>
                <c:pt idx="4">
                  <c:v>28</c:v>
                </c:pt>
                <c:pt idx="5">
                  <c:v>32</c:v>
                </c:pt>
                <c:pt idx="6">
                  <c:v>31</c:v>
                </c:pt>
                <c:pt idx="7">
                  <c:v>30</c:v>
                </c:pt>
                <c:pt idx="8">
                  <c:v>31</c:v>
                </c:pt>
                <c:pt idx="9">
                  <c:v>40</c:v>
                </c:pt>
              </c:numCache>
            </c:numRef>
          </c:val>
        </c:ser>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Meta-cognitive</c:v>
                </c:pt>
              </c:strCache>
            </c:strRef>
          </c:tx>
          <c:spPr>
            <a:solidFill>
              <a:srgbClr val="1A1A2E"/>
            </a:solidFill>
            <a:ln w="25400" cap="flat">
              <a:solidFill>
                <a:srgbClr val="1A1A2E"/>
              </a:solidFill>
              <a:prstDash val="solid"/>
              <a:round/>
            </a:ln>
            <a:effectLst/>
          </c:spPr>
          <c:invertIfNegative val="0"/>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A1A2E"/>
              </a:solidFill>
              <a:ln w="9525" cap="flat">
                <a:solidFill>
                  <a:srgbClr val="1A1A2E"/>
                </a:solidFill>
                <a:prstDash val="solid"/>
                <a:round/>
              </a:ln>
              <a:effectLst/>
            </c:spPr>
          </c:marker>
          <c:cat>
            <c:multiLvlStrRef>
              <c:f>Sheet1!$A$2:$A$6</c:f>
              <c:multiLvlStrCache>
                <c:ptCount val="5"/>
                <c:lvl>
                  <c:pt idx="0">
                    <c:v>Diagnostic Accuracy</c:v>
                  </c:pt>
                  <c:pt idx="1">
                    <c:v>Ethical Reasoning</c:v>
                  </c:pt>
                  <c:pt idx="2">
                    <c:v>Safety Assessment</c:v>
                  </c:pt>
                  <c:pt idx="3">
                    <c:v>Communication</c:v>
                  </c:pt>
                  <c:pt idx="4">
                    <c:v>Clinical Utility</c:v>
                  </c:pt>
                </c:lvl>
              </c:multiLvlStrCache>
            </c:multiLvlStrRef>
          </c:cat>
          <c:val>
            <c:numRef>
              <c:f>Sheet1!$B$2:$B$6</c:f>
              <c:numCache>
                <c:formatCode>General</c:formatCode>
                <c:ptCount val="5"/>
                <c:pt idx="0">
                  <c:v>74.8</c:v>
                </c:pt>
                <c:pt idx="1">
                  <c:v>68.4</c:v>
                </c:pt>
                <c:pt idx="2">
                  <c:v>76.8</c:v>
                </c:pt>
                <c:pt idx="3">
                  <c:v>54</c:v>
                </c:pt>
                <c:pt idx="4">
                  <c:v>69.3</c:v>
                </c:pt>
              </c:numCache>
            </c:numRef>
          </c:val>
          <c:smooth val="0"/>
        </c:ser>
        <c:ser>
          <c:idx val="1"/>
          <c:order val="1"/>
          <c:tx>
            <c:strRef>
              <c:f>Sheet1!$C$1</c:f>
              <c:strCache>
                <c:ptCount val="1"/>
                <c:pt idx="0">
                  <c:v>Safety-First</c:v>
                </c:pt>
              </c:strCache>
            </c:strRef>
          </c:tx>
          <c:spPr>
            <a:solidFill>
              <a:srgbClr val="8D7AF5"/>
            </a:solidFill>
            <a:ln w="25400" cap="flat">
              <a:solidFill>
                <a:srgbClr val="8D7AF5"/>
              </a:solidFill>
              <a:prstDash val="solid"/>
              <a:round/>
            </a:ln>
            <a:effectLst/>
          </c:spPr>
          <c:invertIfNegative val="0"/>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D7AF5"/>
              </a:solidFill>
              <a:ln w="9525" cap="flat">
                <a:solidFill>
                  <a:srgbClr val="8D7AF5"/>
                </a:solidFill>
                <a:prstDash val="solid"/>
                <a:round/>
              </a:ln>
              <a:effectLst/>
            </c:spPr>
          </c:marker>
          <c:cat>
            <c:multiLvlStrRef>
              <c:f>Sheet1!$A$2:$A$6</c:f>
              <c:multiLvlStrCache>
                <c:ptCount val="5"/>
                <c:lvl>
                  <c:pt idx="0">
                    <c:v>Diagnostic Accuracy</c:v>
                  </c:pt>
                  <c:pt idx="1">
                    <c:v>Ethical Reasoning</c:v>
                  </c:pt>
                  <c:pt idx="2">
                    <c:v>Safety Assessment</c:v>
                  </c:pt>
                  <c:pt idx="3">
                    <c:v>Communication</c:v>
                  </c:pt>
                  <c:pt idx="4">
                    <c:v>Clinical Utility</c:v>
                  </c:pt>
                </c:lvl>
              </c:multiLvlStrCache>
            </c:multiLvlStrRef>
          </c:cat>
          <c:val>
            <c:numRef>
              <c:f>Sheet1!$C$2:$C$6</c:f>
              <c:numCache>
                <c:formatCode>General</c:formatCode>
                <c:ptCount val="5"/>
                <c:pt idx="0">
                  <c:v>71.6</c:v>
                </c:pt>
                <c:pt idx="1">
                  <c:v>67.2</c:v>
                </c:pt>
                <c:pt idx="2">
                  <c:v>81.2</c:v>
                </c:pt>
                <c:pt idx="3">
                  <c:v>51</c:v>
                </c:pt>
                <c:pt idx="4">
                  <c:v>66</c:v>
                </c:pt>
              </c:numCache>
            </c:numRef>
          </c:val>
          <c:smooth val="0"/>
        </c:ser>
        <c:ser>
          <c:idx val="2"/>
          <c:order val="2"/>
          <c:tx>
            <c:strRef>
              <c:f>Sheet1!$D$1</c:f>
              <c:strCache>
                <c:ptCount val="1"/>
                <c:pt idx="0">
                  <c:v>Collaborative</c:v>
                </c:pt>
              </c:strCache>
            </c:strRef>
          </c:tx>
          <c:spPr>
            <a:solidFill>
              <a:srgbClr val="059669"/>
            </a:solidFill>
            <a:ln w="25400" cap="flat">
              <a:solidFill>
                <a:srgbClr val="059669"/>
              </a:solidFill>
              <a:prstDash val="solid"/>
              <a:round/>
            </a:ln>
            <a:effectLst/>
          </c:spPr>
          <c:invertIfNegative val="0"/>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59669"/>
              </a:solidFill>
              <a:ln w="9525" cap="flat">
                <a:solidFill>
                  <a:srgbClr val="059669"/>
                </a:solidFill>
                <a:prstDash val="solid"/>
                <a:round/>
              </a:ln>
              <a:effectLst/>
            </c:spPr>
          </c:marker>
          <c:cat>
            <c:multiLvlStrRef>
              <c:f>Sheet1!$A$2:$A$6</c:f>
              <c:multiLvlStrCache>
                <c:ptCount val="5"/>
                <c:lvl>
                  <c:pt idx="0">
                    <c:v>Diagnostic Accuracy</c:v>
                  </c:pt>
                  <c:pt idx="1">
                    <c:v>Ethical Reasoning</c:v>
                  </c:pt>
                  <c:pt idx="2">
                    <c:v>Safety Assessment</c:v>
                  </c:pt>
                  <c:pt idx="3">
                    <c:v>Communication</c:v>
                  </c:pt>
                  <c:pt idx="4">
                    <c:v>Clinical Utility</c:v>
                  </c:pt>
                </c:lvl>
              </c:multiLvlStrCache>
            </c:multiLvlStrRef>
          </c:cat>
          <c:val>
            <c:numRef>
              <c:f>Sheet1!$D$2:$D$6</c:f>
              <c:numCache>
                <c:formatCode>General</c:formatCode>
                <c:ptCount val="5"/>
                <c:pt idx="0">
                  <c:v>68.8</c:v>
                </c:pt>
                <c:pt idx="1">
                  <c:v>64.4</c:v>
                </c:pt>
                <c:pt idx="2">
                  <c:v>72.4</c:v>
                </c:pt>
                <c:pt idx="3">
                  <c:v>55.5</c:v>
                </c:pt>
                <c:pt idx="4">
                  <c:v>62</c:v>
                </c:pt>
              </c:numCache>
            </c:numRef>
          </c:val>
          <c:smooth val="0"/>
        </c:ser>
        <c:ser>
          <c:idx val="3"/>
          <c:order val="3"/>
          <c:tx>
            <c:strRef>
              <c:f>Sheet1!$E$1</c:f>
              <c:strCache>
                <c:ptCount val="1"/>
                <c:pt idx="0">
                  <c:v>Zero-shot</c:v>
                </c:pt>
              </c:strCache>
            </c:strRef>
          </c:tx>
          <c:spPr>
            <a:solidFill>
              <a:srgbClr val="DC2626"/>
            </a:solidFill>
            <a:ln w="25400" cap="flat">
              <a:solidFill>
                <a:srgbClr val="DC2626"/>
              </a:solidFill>
              <a:prstDash val="solid"/>
              <a:round/>
            </a:ln>
            <a:effectLst/>
          </c:spPr>
          <c:invertIfNegative val="0"/>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C2626"/>
              </a:solidFill>
              <a:ln w="9525" cap="flat">
                <a:solidFill>
                  <a:srgbClr val="DC2626"/>
                </a:solidFill>
                <a:prstDash val="solid"/>
                <a:round/>
              </a:ln>
              <a:effectLst/>
            </c:spPr>
          </c:marker>
          <c:cat>
            <c:multiLvlStrRef>
              <c:f>Sheet1!$A$2:$A$6</c:f>
              <c:multiLvlStrCache>
                <c:ptCount val="5"/>
                <c:lvl>
                  <c:pt idx="0">
                    <c:v>Diagnostic Accuracy</c:v>
                  </c:pt>
                  <c:pt idx="1">
                    <c:v>Ethical Reasoning</c:v>
                  </c:pt>
                  <c:pt idx="2">
                    <c:v>Safety Assessment</c:v>
                  </c:pt>
                  <c:pt idx="3">
                    <c:v>Communication</c:v>
                  </c:pt>
                  <c:pt idx="4">
                    <c:v>Clinical Utility</c:v>
                  </c:pt>
                </c:lvl>
              </c:multiLvlStrCache>
            </c:multiLvlStrRef>
          </c:cat>
          <c:val>
            <c:numRef>
              <c:f>Sheet1!$E$2:$E$6</c:f>
              <c:numCache>
                <c:formatCode>General</c:formatCode>
                <c:ptCount val="5"/>
                <c:pt idx="0">
                  <c:v>65.2</c:v>
                </c:pt>
                <c:pt idx="1">
                  <c:v>56.8</c:v>
                </c:pt>
                <c:pt idx="2">
                  <c:v>64.4</c:v>
                </c:pt>
                <c:pt idx="3">
                  <c:v>47</c:v>
                </c:pt>
                <c:pt idx="4">
                  <c:v>58.7</c:v>
                </c:pt>
              </c:numCache>
            </c:numRef>
          </c:val>
          <c:smooth val="0"/>
        </c:ser>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Claude Sonnet 4</c:v>
                </c:pt>
              </c:strCache>
            </c:strRef>
          </c:tx>
          <c:spPr>
            <a:solidFill>
              <a:srgbClr val="DC2626"/>
            </a:solidFill>
            <a:ln w="25400" cap="flat">
              <a:solidFill>
                <a:srgbClr val="DC2626"/>
              </a:solidFill>
              <a:prstDash val="solid"/>
              <a:round/>
            </a:ln>
            <a:effectLst/>
          </c:spPr>
          <c:invertIfNegative val="0"/>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C2626"/>
              </a:solidFill>
              <a:ln w="9525" cap="flat">
                <a:solidFill>
                  <a:srgbClr val="DC2626"/>
                </a:solidFill>
                <a:prstDash val="solid"/>
                <a:round/>
              </a:ln>
              <a:effectLst/>
            </c:spPr>
          </c:marker>
          <c:cat>
            <c:multiLvlStrRef>
              <c:f>Sheet1!$A$2:$A$6</c:f>
              <c:multiLvlStrCache>
                <c:ptCount val="5"/>
                <c:lvl>
                  <c:pt idx="0">
                    <c:v>Level 1 Easy</c:v>
                  </c:pt>
                  <c:pt idx="1">
                    <c:v>Level 2</c:v>
                  </c:pt>
                  <c:pt idx="2">
                    <c:v>Level 3</c:v>
                  </c:pt>
                  <c:pt idx="3">
                    <c:v>Level 4</c:v>
                  </c:pt>
                  <c:pt idx="4">
                    <c:v>Level 5 Very Hard</c:v>
                  </c:pt>
                </c:lvl>
              </c:multiLvlStrCache>
            </c:multiLvlStrRef>
          </c:cat>
          <c:val>
            <c:numRef>
              <c:f>Sheet1!$B$2:$B$6</c:f>
              <c:numCache>
                <c:formatCode>General</c:formatCode>
                <c:ptCount val="5"/>
                <c:pt idx="0">
                  <c:v>89.2</c:v>
                </c:pt>
                <c:pt idx="1">
                  <c:v>82.3</c:v>
                </c:pt>
                <c:pt idx="2">
                  <c:v>74.1</c:v>
                </c:pt>
                <c:pt idx="3">
                  <c:v>65.2</c:v>
                </c:pt>
                <c:pt idx="4">
                  <c:v>48.7</c:v>
                </c:pt>
              </c:numCache>
            </c:numRef>
          </c:val>
          <c:smooth val="0"/>
        </c:ser>
        <c:ser>
          <c:idx val="1"/>
          <c:order val="1"/>
          <c:tx>
            <c:strRef>
              <c:f>Sheet1!$C$1</c:f>
              <c:strCache>
                <c:ptCount val="1"/>
                <c:pt idx="0">
                  <c:v>Gemini 2.5 Pro</c:v>
                </c:pt>
              </c:strCache>
            </c:strRef>
          </c:tx>
          <c:spPr>
            <a:solidFill>
              <a:srgbClr val="059669"/>
            </a:solidFill>
            <a:ln w="25400" cap="flat">
              <a:solidFill>
                <a:srgbClr val="059669"/>
              </a:solidFill>
              <a:prstDash val="solid"/>
              <a:round/>
            </a:ln>
            <a:effectLst/>
          </c:spPr>
          <c:invertIfNegative val="0"/>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59669"/>
              </a:solidFill>
              <a:ln w="9525" cap="flat">
                <a:solidFill>
                  <a:srgbClr val="059669"/>
                </a:solidFill>
                <a:prstDash val="solid"/>
                <a:round/>
              </a:ln>
              <a:effectLst/>
            </c:spPr>
          </c:marker>
          <c:cat>
            <c:multiLvlStrRef>
              <c:f>Sheet1!$A$2:$A$6</c:f>
              <c:multiLvlStrCache>
                <c:ptCount val="5"/>
                <c:lvl>
                  <c:pt idx="0">
                    <c:v>Level 1 Easy</c:v>
                  </c:pt>
                  <c:pt idx="1">
                    <c:v>Level 2</c:v>
                  </c:pt>
                  <c:pt idx="2">
                    <c:v>Level 3</c:v>
                  </c:pt>
                  <c:pt idx="3">
                    <c:v>Level 4</c:v>
                  </c:pt>
                  <c:pt idx="4">
                    <c:v>Level 5 Very Hard</c:v>
                  </c:pt>
                </c:lvl>
              </c:multiLvlStrCache>
            </c:multiLvlStrRef>
          </c:cat>
          <c:val>
            <c:numRef>
              <c:f>Sheet1!$C$2:$C$6</c:f>
              <c:numCache>
                <c:formatCode>General</c:formatCode>
                <c:ptCount val="5"/>
                <c:pt idx="0">
                  <c:v>86.7</c:v>
                </c:pt>
                <c:pt idx="1">
                  <c:v>79.1</c:v>
                </c:pt>
                <c:pt idx="2">
                  <c:v>71.3</c:v>
                </c:pt>
                <c:pt idx="3">
                  <c:v>62.8</c:v>
                </c:pt>
                <c:pt idx="4">
                  <c:v>43.6</c:v>
                </c:pt>
              </c:numCache>
            </c:numRef>
          </c:val>
          <c:smooth val="0"/>
        </c:ser>
        <c:ser>
          <c:idx val="2"/>
          <c:order val="2"/>
          <c:tx>
            <c:strRef>
              <c:f>Sheet1!$D$1</c:f>
              <c:strCache>
                <c:ptCount val="1"/>
                <c:pt idx="0">
                  <c:v>ChatGPT O3</c:v>
                </c:pt>
              </c:strCache>
            </c:strRef>
          </c:tx>
          <c:spPr>
            <a:solidFill>
              <a:srgbClr val="8D7AF5"/>
            </a:solidFill>
            <a:ln w="25400" cap="flat">
              <a:solidFill>
                <a:srgbClr val="8D7AF5"/>
              </a:solidFill>
              <a:prstDash val="solid"/>
              <a:round/>
            </a:ln>
            <a:effectLst/>
          </c:spPr>
          <c:invertIfNegative val="0"/>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D7AF5"/>
              </a:solidFill>
              <a:ln w="9525" cap="flat">
                <a:solidFill>
                  <a:srgbClr val="8D7AF5"/>
                </a:solidFill>
                <a:prstDash val="solid"/>
                <a:round/>
              </a:ln>
              <a:effectLst/>
            </c:spPr>
          </c:marker>
          <c:cat>
            <c:multiLvlStrRef>
              <c:f>Sheet1!$A$2:$A$6</c:f>
              <c:multiLvlStrCache>
                <c:ptCount val="5"/>
                <c:lvl>
                  <c:pt idx="0">
                    <c:v>Level 1 Easy</c:v>
                  </c:pt>
                  <c:pt idx="1">
                    <c:v>Level 2</c:v>
                  </c:pt>
                  <c:pt idx="2">
                    <c:v>Level 3</c:v>
                  </c:pt>
                  <c:pt idx="3">
                    <c:v>Level 4</c:v>
                  </c:pt>
                  <c:pt idx="4">
                    <c:v>Level 5 Very Hard</c:v>
                  </c:pt>
                </c:lvl>
              </c:multiLvlStrCache>
            </c:multiLvlStrRef>
          </c:cat>
          <c:val>
            <c:numRef>
              <c:f>Sheet1!$D$2:$D$6</c:f>
              <c:numCache>
                <c:formatCode>General</c:formatCode>
                <c:ptCount val="5"/>
                <c:pt idx="0">
                  <c:v>84.1</c:v>
                </c:pt>
                <c:pt idx="1">
                  <c:v>76.4</c:v>
                </c:pt>
                <c:pt idx="2">
                  <c:v>69.7</c:v>
                </c:pt>
                <c:pt idx="3">
                  <c:v>61.9</c:v>
                </c:pt>
                <c:pt idx="4">
                  <c:v>44.2</c:v>
                </c:pt>
              </c:numCache>
            </c:numRef>
          </c:val>
          <c:smooth val="0"/>
        </c:ser>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sessions/kind-nice-feynman/mnt/teach-in/ai-app.png">    </p:cNvPr>
          <p:cNvPicPr>
            <a:picLocks noChangeAspect="1"/>
          </p:cNvPicPr>
          <p:nvPr/>
        </p:nvPicPr>
        <p:blipFill>
          <a:blip r:embed="rId1"/>
          <a:stretch>
            <a:fillRect/>
          </a:stretch>
        </p:blipFill>
        <p:spPr>
          <a:xfrm>
            <a:off x="0" y="685800"/>
            <a:ext cx="3840480" cy="5143500"/>
          </a:xfrm>
          <a:prstGeom prst="rect">
            <a:avLst/>
          </a:prstGeom>
        </p:spPr>
      </p:pic>
      <p:sp>
        <p:nvSpPr>
          <p:cNvPr id="3" name="Text 0"/>
          <p:cNvSpPr/>
          <p:nvPr/>
        </p:nvSpPr>
        <p:spPr>
          <a:xfrm>
            <a:off x="4114800" y="1097280"/>
            <a:ext cx="4572000" cy="1097280"/>
          </a:xfrm>
          <a:prstGeom prst="rect">
            <a:avLst/>
          </a:prstGeom>
          <a:noFill/>
          <a:ln/>
        </p:spPr>
        <p:txBody>
          <a:bodyPr wrap="square" rtlCol="0" anchor="t"/>
          <a:lstStyle/>
          <a:p>
            <a:pPr algn="l" indent="0" marL="0">
              <a:buNone/>
            </a:pPr>
            <a:r>
              <a:rPr lang="en-US" sz="2800" b="1" dirty="0">
                <a:solidFill>
                  <a:srgbClr val="1A1A2E"/>
                </a:solidFill>
              </a:rPr>
              <a:t>AI as a Health Resource in Marginalized Communities</a:t>
            </a:r>
            <a:endParaRPr lang="en-US" sz="2800" dirty="0"/>
          </a:p>
        </p:txBody>
      </p:sp>
      <p:sp>
        <p:nvSpPr>
          <p:cNvPr id="4" name="Text 1"/>
          <p:cNvSpPr/>
          <p:nvPr/>
        </p:nvSpPr>
        <p:spPr>
          <a:xfrm>
            <a:off x="4114800" y="2286000"/>
            <a:ext cx="4572000" cy="731520"/>
          </a:xfrm>
          <a:prstGeom prst="rect">
            <a:avLst/>
          </a:prstGeom>
          <a:noFill/>
          <a:ln/>
        </p:spPr>
        <p:txBody>
          <a:bodyPr wrap="square" rtlCol="0" anchor="t"/>
          <a:lstStyle/>
          <a:p>
            <a:pPr algn="l" indent="0" marL="0">
              <a:buNone/>
            </a:pPr>
            <a:r>
              <a:rPr lang="en-US" sz="1600" i="1" dirty="0">
                <a:solidFill>
                  <a:srgbClr val="555555"/>
                </a:solidFill>
              </a:rPr>
              <a:t>Are chatbots improving or worsening the healthcare access-equity gap?</a:t>
            </a:r>
            <a:endParaRPr lang="en-US" sz="1600" dirty="0"/>
          </a:p>
        </p:txBody>
      </p:sp>
      <p:sp>
        <p:nvSpPr>
          <p:cNvPr id="5" name="Shape 2"/>
          <p:cNvSpPr/>
          <p:nvPr/>
        </p:nvSpPr>
        <p:spPr>
          <a:xfrm>
            <a:off x="4114800" y="3154680"/>
            <a:ext cx="4572000" cy="0"/>
          </a:xfrm>
          <a:prstGeom prst="line">
            <a:avLst/>
          </a:prstGeom>
          <a:noFill/>
          <a:ln w="12700">
            <a:solidFill>
              <a:srgbClr val="555555"/>
            </a:solidFill>
            <a:prstDash val="solid"/>
          </a:ln>
        </p:spPr>
      </p:sp>
      <p:sp>
        <p:nvSpPr>
          <p:cNvPr id="6" name="Text 3"/>
          <p:cNvSpPr/>
          <p:nvPr/>
        </p:nvSpPr>
        <p:spPr>
          <a:xfrm>
            <a:off x="4114800" y="3337560"/>
            <a:ext cx="4572000" cy="365760"/>
          </a:xfrm>
          <a:prstGeom prst="rect">
            <a:avLst/>
          </a:prstGeom>
          <a:noFill/>
          <a:ln/>
        </p:spPr>
        <p:txBody>
          <a:bodyPr wrap="square" rtlCol="0" anchor="t"/>
          <a:lstStyle/>
          <a:p>
            <a:pPr algn="l" indent="0" marL="0">
              <a:buNone/>
            </a:pPr>
            <a:r>
              <a:rPr lang="en-US" sz="1300" dirty="0">
                <a:solidFill>
                  <a:srgbClr val="AAAAAA"/>
                </a:solidFill>
              </a:rPr>
              <a:t>Mathew Kang · April 11,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sessions/kind-nice-feynman/mnt/teach-in/hands.jpg">    </p:cNvPr>
          <p:cNvPicPr>
            <a:picLocks noChangeAspect="1"/>
          </p:cNvPicPr>
          <p:nvPr/>
        </p:nvPicPr>
        <p:blipFill>
          <a:blip r:embed="rId1"/>
          <a:stretch>
            <a:fillRect/>
          </a:stretch>
        </p:blipFill>
        <p:spPr>
          <a:xfrm>
            <a:off x="0" y="0"/>
            <a:ext cx="3840480" cy="6858000"/>
          </a:xfrm>
          <a:prstGeom prst="rect">
            <a:avLst/>
          </a:prstGeom>
        </p:spPr>
      </p:pic>
      <p:sp>
        <p:nvSpPr>
          <p:cNvPr id="3" name="Text 0"/>
          <p:cNvSpPr/>
          <p:nvPr/>
        </p:nvSpPr>
        <p:spPr>
          <a:xfrm>
            <a:off x="4114800" y="2926080"/>
            <a:ext cx="4572000" cy="914400"/>
          </a:xfrm>
          <a:prstGeom prst="rect">
            <a:avLst/>
          </a:prstGeom>
          <a:noFill/>
          <a:ln/>
        </p:spPr>
        <p:txBody>
          <a:bodyPr wrap="square" rtlCol="0" anchor="ctr"/>
          <a:lstStyle/>
          <a:p>
            <a:pPr algn="ctr" indent="0" marL="0">
              <a:buNone/>
            </a:pPr>
            <a:r>
              <a:rPr lang="en-US" sz="3000" b="1" dirty="0">
                <a:solidFill>
                  <a:srgbClr val="1A1A2E"/>
                </a:solidFill>
              </a:rPr>
              <a:t>Do you use AI for health advice?</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A1A2E"/>
                </a:solidFill>
              </a:rPr>
              <a:t>What Others Think of Using AI For Health Advice</a:t>
            </a:r>
            <a:endParaRPr lang="en-US" sz="2400" dirty="0"/>
          </a:p>
        </p:txBody>
      </p:sp>
      <p:sp>
        <p:nvSpPr>
          <p:cNvPr id="3" name="Text 1"/>
          <p:cNvSpPr/>
          <p:nvPr/>
        </p:nvSpPr>
        <p:spPr>
          <a:xfrm>
            <a:off x="548640" y="1188720"/>
            <a:ext cx="8046720" cy="228600"/>
          </a:xfrm>
          <a:prstGeom prst="rect">
            <a:avLst/>
          </a:prstGeom>
          <a:noFill/>
          <a:ln/>
        </p:spPr>
        <p:txBody>
          <a:bodyPr wrap="square" rtlCol="0" anchor="ctr"/>
          <a:lstStyle/>
          <a:p>
            <a:pPr algn="l" indent="0" marL="0">
              <a:buNone/>
            </a:pPr>
            <a:r>
              <a:rPr lang="en-US" sz="1000" b="1" dirty="0">
                <a:solidFill>
                  <a:srgbClr val="2A14A6"/>
                </a:solidFill>
              </a:rPr>
              <a:t>Skepticism but appreciation of the format</a:t>
            </a:r>
            <a:endParaRPr lang="en-US" sz="1000" dirty="0"/>
          </a:p>
        </p:txBody>
      </p:sp>
      <p:sp>
        <p:nvSpPr>
          <p:cNvPr id="4" name="Text 2"/>
          <p:cNvSpPr/>
          <p:nvPr/>
        </p:nvSpPr>
        <p:spPr>
          <a:xfrm>
            <a:off x="731520" y="1508760"/>
            <a:ext cx="7680960" cy="685800"/>
          </a:xfrm>
          <a:prstGeom prst="rect">
            <a:avLst/>
          </a:prstGeom>
          <a:noFill/>
          <a:ln/>
        </p:spPr>
        <p:txBody>
          <a:bodyPr wrap="square" rtlCol="0" anchor="t"/>
          <a:lstStyle/>
          <a:p>
            <a:pPr algn="l" indent="0" marL="0">
              <a:buNone/>
            </a:pPr>
            <a:r>
              <a:rPr lang="en-US" sz="1100" i="1" dirty="0">
                <a:solidFill>
                  <a:srgbClr val="333333"/>
                </a:solidFill>
              </a:rPr>
              <a:t>"I'm still skeptical 100%. But I just find it useful in terms of like, I got what I need. I got a good summary. Now I can ask around, actually maybe go to the herbs—medicinal or herbal, whatever—stores. Or like, I can look at JSTOR now for an article if I really want to know."</a:t>
            </a:r>
            <a:endParaRPr lang="en-US" sz="1100" dirty="0"/>
          </a:p>
        </p:txBody>
      </p:sp>
      <p:sp>
        <p:nvSpPr>
          <p:cNvPr id="5" name="Text 3"/>
          <p:cNvSpPr/>
          <p:nvPr/>
        </p:nvSpPr>
        <p:spPr>
          <a:xfrm>
            <a:off x="731520" y="2240280"/>
            <a:ext cx="7680960" cy="228600"/>
          </a:xfrm>
          <a:prstGeom prst="rect">
            <a:avLst/>
          </a:prstGeom>
          <a:noFill/>
          <a:ln/>
        </p:spPr>
        <p:txBody>
          <a:bodyPr wrap="square" rtlCol="0" anchor="ctr"/>
          <a:lstStyle/>
          <a:p>
            <a:pPr algn="l" indent="0" marL="0">
              <a:buNone/>
            </a:pPr>
            <a:r>
              <a:rPr lang="en-US" sz="1000" dirty="0">
                <a:solidFill>
                  <a:srgbClr val="555555"/>
                </a:solidFill>
              </a:rPr>
              <a:t>— Participant 19</a:t>
            </a:r>
            <a:endParaRPr lang="en-US" sz="1000" dirty="0"/>
          </a:p>
        </p:txBody>
      </p:sp>
      <p:sp>
        <p:nvSpPr>
          <p:cNvPr id="6" name="Text 4"/>
          <p:cNvSpPr/>
          <p:nvPr/>
        </p:nvSpPr>
        <p:spPr>
          <a:xfrm>
            <a:off x="548640" y="2880360"/>
            <a:ext cx="8046720" cy="228600"/>
          </a:xfrm>
          <a:prstGeom prst="rect">
            <a:avLst/>
          </a:prstGeom>
          <a:noFill/>
          <a:ln/>
        </p:spPr>
        <p:txBody>
          <a:bodyPr wrap="square" rtlCol="0" anchor="ctr"/>
          <a:lstStyle/>
          <a:p>
            <a:pPr algn="l" indent="0" marL="0">
              <a:buNone/>
            </a:pPr>
            <a:r>
              <a:rPr lang="en-US" sz="1000" b="1" dirty="0">
                <a:solidFill>
                  <a:srgbClr val="2A14A6"/>
                </a:solidFill>
              </a:rPr>
              <a:t>Good use as a starting point for broader online searching</a:t>
            </a:r>
            <a:endParaRPr lang="en-US" sz="1000" dirty="0"/>
          </a:p>
        </p:txBody>
      </p:sp>
      <p:sp>
        <p:nvSpPr>
          <p:cNvPr id="7" name="Text 5"/>
          <p:cNvSpPr/>
          <p:nvPr/>
        </p:nvSpPr>
        <p:spPr>
          <a:xfrm>
            <a:off x="731520" y="3200400"/>
            <a:ext cx="7680960" cy="685800"/>
          </a:xfrm>
          <a:prstGeom prst="rect">
            <a:avLst/>
          </a:prstGeom>
          <a:noFill/>
          <a:ln/>
        </p:spPr>
        <p:txBody>
          <a:bodyPr wrap="square" rtlCol="0" anchor="t"/>
          <a:lstStyle/>
          <a:p>
            <a:pPr algn="l" indent="0" marL="0">
              <a:buNone/>
            </a:pPr>
            <a:r>
              <a:rPr lang="en-US" sz="1100" i="1" dirty="0">
                <a:solidFill>
                  <a:srgbClr val="333333"/>
                </a:solidFill>
              </a:rPr>
              <a:t>"I guess I trust it [ChatGPT] less than the NIH website, because again, I'm not seeing any sources. It's very easy to read though. And it really, it really puts everything into a nice category. So it's easy to digest. I would use it, again, as a starting point."</a:t>
            </a:r>
            <a:endParaRPr lang="en-US" sz="1100" dirty="0"/>
          </a:p>
        </p:txBody>
      </p:sp>
      <p:sp>
        <p:nvSpPr>
          <p:cNvPr id="8" name="Text 6"/>
          <p:cNvSpPr/>
          <p:nvPr/>
        </p:nvSpPr>
        <p:spPr>
          <a:xfrm>
            <a:off x="731520" y="3931920"/>
            <a:ext cx="7680960" cy="228600"/>
          </a:xfrm>
          <a:prstGeom prst="rect">
            <a:avLst/>
          </a:prstGeom>
          <a:noFill/>
          <a:ln/>
        </p:spPr>
        <p:txBody>
          <a:bodyPr wrap="square" rtlCol="0" anchor="ctr"/>
          <a:lstStyle/>
          <a:p>
            <a:pPr algn="l" indent="0" marL="0">
              <a:buNone/>
            </a:pPr>
            <a:r>
              <a:rPr lang="en-US" sz="1000" dirty="0">
                <a:solidFill>
                  <a:srgbClr val="555555"/>
                </a:solidFill>
              </a:rPr>
              <a:t>— Participant 15</a:t>
            </a:r>
            <a:endParaRPr lang="en-US" sz="1000" dirty="0"/>
          </a:p>
        </p:txBody>
      </p:sp>
      <p:sp>
        <p:nvSpPr>
          <p:cNvPr id="9" name="Text 7"/>
          <p:cNvSpPr/>
          <p:nvPr/>
        </p:nvSpPr>
        <p:spPr>
          <a:xfrm>
            <a:off x="548640" y="4572000"/>
            <a:ext cx="8046720" cy="228600"/>
          </a:xfrm>
          <a:prstGeom prst="rect">
            <a:avLst/>
          </a:prstGeom>
          <a:noFill/>
          <a:ln/>
        </p:spPr>
        <p:txBody>
          <a:bodyPr wrap="square" rtlCol="0" anchor="ctr"/>
          <a:lstStyle/>
          <a:p>
            <a:pPr algn="l" indent="0" marL="0">
              <a:buNone/>
            </a:pPr>
            <a:r>
              <a:rPr lang="en-US" sz="1000" b="1" dirty="0">
                <a:solidFill>
                  <a:srgbClr val="2A14A6"/>
                </a:solidFill>
              </a:rPr>
              <a:t>Conversational flow allows for more precise questions and an immersive experience</a:t>
            </a:r>
            <a:endParaRPr lang="en-US" sz="1000" dirty="0"/>
          </a:p>
        </p:txBody>
      </p:sp>
      <p:sp>
        <p:nvSpPr>
          <p:cNvPr id="10" name="Text 8"/>
          <p:cNvSpPr/>
          <p:nvPr/>
        </p:nvSpPr>
        <p:spPr>
          <a:xfrm>
            <a:off x="731520" y="4892040"/>
            <a:ext cx="7680960" cy="685800"/>
          </a:xfrm>
          <a:prstGeom prst="rect">
            <a:avLst/>
          </a:prstGeom>
          <a:noFill/>
          <a:ln/>
        </p:spPr>
        <p:txBody>
          <a:bodyPr wrap="square" rtlCol="0" anchor="t"/>
          <a:lstStyle/>
          <a:p>
            <a:pPr algn="l" indent="0" marL="0">
              <a:buNone/>
            </a:pPr>
            <a:r>
              <a:rPr lang="en-US" sz="1100" i="1" dirty="0">
                <a:solidFill>
                  <a:srgbClr val="333333"/>
                </a:solidFill>
              </a:rPr>
              <a:t>"One of the reasons I'm using ChatGPT is because you can use [it] as a conversational [tool], so you can ask questions as [a] sequence from the answer given to you earlier. So I can use this as just [a] conversation with someone I'm talking [to], like a doctor, and ask questions: 'Is there any medication,' 'Do I need to see a doctor.'"</a:t>
            </a:r>
            <a:endParaRPr lang="en-US" sz="1100" dirty="0"/>
          </a:p>
        </p:txBody>
      </p:sp>
      <p:sp>
        <p:nvSpPr>
          <p:cNvPr id="11" name="Text 9"/>
          <p:cNvSpPr/>
          <p:nvPr/>
        </p:nvSpPr>
        <p:spPr>
          <a:xfrm>
            <a:off x="731520" y="5623560"/>
            <a:ext cx="7680960" cy="228600"/>
          </a:xfrm>
          <a:prstGeom prst="rect">
            <a:avLst/>
          </a:prstGeom>
          <a:noFill/>
          <a:ln/>
        </p:spPr>
        <p:txBody>
          <a:bodyPr wrap="square" rtlCol="0" anchor="ctr"/>
          <a:lstStyle/>
          <a:p>
            <a:pPr algn="l" indent="0" marL="0">
              <a:buNone/>
            </a:pPr>
            <a:r>
              <a:rPr lang="en-US" sz="1000" dirty="0">
                <a:solidFill>
                  <a:srgbClr val="555555"/>
                </a:solidFill>
              </a:rPr>
              <a:t>— Participant 13</a:t>
            </a:r>
            <a:endParaRPr lang="en-US" sz="1000" dirty="0"/>
          </a:p>
        </p:txBody>
      </p:sp>
      <p:sp>
        <p:nvSpPr>
          <p:cNvPr id="12" name="Text 10"/>
          <p:cNvSpPr/>
          <p:nvPr/>
        </p:nvSpPr>
        <p:spPr>
          <a:xfrm>
            <a:off x="457200" y="6309360"/>
            <a:ext cx="8229600" cy="365760"/>
          </a:xfrm>
          <a:prstGeom prst="rect">
            <a:avLst/>
          </a:prstGeom>
          <a:noFill/>
          <a:ln/>
        </p:spPr>
        <p:txBody>
          <a:bodyPr wrap="square" rtlCol="0" anchor="t"/>
          <a:lstStyle/>
          <a:p>
            <a:pPr algn="l" indent="0" marL="0">
              <a:buNone/>
            </a:pPr>
            <a:r>
              <a:rPr lang="en-US" sz="800" dirty="0">
                <a:solidFill>
                  <a:srgbClr val="555555"/>
                </a:solidFill>
              </a:rPr>
              <a:t>Wardle, C., Urbani, S., &amp; Wang, E. (2025). Evolving health information–seeking behavior... Journal of Medical Internet Research, 27, e79961.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A1A2E"/>
                </a:solidFill>
              </a:rPr>
              <a:t>What Others Think of Using AI For Health Advice</a:t>
            </a:r>
            <a:endParaRPr lang="en-US" sz="2400" dirty="0"/>
          </a:p>
        </p:txBody>
      </p:sp>
      <p:sp>
        <p:nvSpPr>
          <p:cNvPr id="3" name="Text 1"/>
          <p:cNvSpPr/>
          <p:nvPr/>
        </p:nvSpPr>
        <p:spPr>
          <a:xfrm>
            <a:off x="640080" y="1005840"/>
            <a:ext cx="7863840" cy="320040"/>
          </a:xfrm>
          <a:prstGeom prst="rect">
            <a:avLst/>
          </a:prstGeom>
          <a:noFill/>
          <a:ln/>
        </p:spPr>
        <p:txBody>
          <a:bodyPr wrap="square" rtlCol="0" anchor="ctr"/>
          <a:lstStyle/>
          <a:p>
            <a:pPr algn="l" indent="0" marL="0">
              <a:buNone/>
            </a:pPr>
            <a:r>
              <a:rPr lang="en-US" sz="1100" dirty="0">
                <a:solidFill>
                  <a:srgbClr val="555555"/>
                </a:solidFill>
              </a:rPr>
              <a:t>When redditors are asked, "Why is people relying on AI for healthcare advice the new trend?:"</a:t>
            </a:r>
            <a:endParaRPr lang="en-US" sz="1100" dirty="0"/>
          </a:p>
        </p:txBody>
      </p:sp>
      <p:sp>
        <p:nvSpPr>
          <p:cNvPr id="4" name="Shape 2"/>
          <p:cNvSpPr/>
          <p:nvPr/>
        </p:nvSpPr>
        <p:spPr>
          <a:xfrm>
            <a:off x="457200" y="1463040"/>
            <a:ext cx="8229600" cy="1280160"/>
          </a:xfrm>
          <a:prstGeom prst="rect">
            <a:avLst/>
          </a:prstGeom>
          <a:solidFill>
            <a:srgbClr val="1A1A1B"/>
          </a:solidFill>
          <a:ln/>
        </p:spPr>
      </p:sp>
      <p:sp>
        <p:nvSpPr>
          <p:cNvPr id="5" name="Text 3"/>
          <p:cNvSpPr/>
          <p:nvPr/>
        </p:nvSpPr>
        <p:spPr>
          <a:xfrm>
            <a:off x="640080" y="1554480"/>
            <a:ext cx="7863840" cy="228600"/>
          </a:xfrm>
          <a:prstGeom prst="rect">
            <a:avLst/>
          </a:prstGeom>
          <a:noFill/>
          <a:ln/>
        </p:spPr>
        <p:txBody>
          <a:bodyPr wrap="square" rtlCol="0" anchor="ctr"/>
          <a:lstStyle/>
          <a:p>
            <a:pPr algn="l" indent="0" marL="0">
              <a:buNone/>
            </a:pPr>
            <a:r>
              <a:rPr lang="en-US" sz="1100" b="1" dirty="0">
                <a:solidFill>
                  <a:srgbClr val="FFFFFF"/>
                </a:solidFill>
              </a:rPr>
              <a:t>MaybeLiterally  ▲4</a:t>
            </a:r>
            <a:endParaRPr lang="en-US" sz="1100" dirty="0"/>
          </a:p>
        </p:txBody>
      </p:sp>
      <p:sp>
        <p:nvSpPr>
          <p:cNvPr id="6" name="Text 4"/>
          <p:cNvSpPr/>
          <p:nvPr/>
        </p:nvSpPr>
        <p:spPr>
          <a:xfrm>
            <a:off x="640080" y="1828800"/>
            <a:ext cx="7863840" cy="822960"/>
          </a:xfrm>
          <a:prstGeom prst="rect">
            <a:avLst/>
          </a:prstGeom>
          <a:noFill/>
          <a:ln/>
        </p:spPr>
        <p:txBody>
          <a:bodyPr wrap="square" rtlCol="0" anchor="t"/>
          <a:lstStyle/>
          <a:p>
            <a:pPr algn="l" indent="0" marL="0">
              <a:buNone/>
            </a:pPr>
            <a:r>
              <a:rPr lang="en-US" sz="1000" dirty="0">
                <a:solidFill>
                  <a:srgbClr val="FFFFFF"/>
                </a:solidFill>
              </a:rPr>
              <a:t>Honestly your focusing on the poor outcomes, and seem to be ignoring the good outcomes of people using AI for healthcare advice... People need something to bounce their ideas off of, or get some thoughts, ideas, and plans of action for a lot of things and their healthcare is absolutely one of them. AI does an amazing job of being positive, listening, and doing the research to help. In the end, it's a tool, and you need to treat it as one and take personal responsibility.</a:t>
            </a:r>
            <a:endParaRPr lang="en-US" sz="1000" dirty="0"/>
          </a:p>
        </p:txBody>
      </p:sp>
      <p:sp>
        <p:nvSpPr>
          <p:cNvPr id="7" name="Shape 5"/>
          <p:cNvSpPr/>
          <p:nvPr/>
        </p:nvSpPr>
        <p:spPr>
          <a:xfrm>
            <a:off x="457200" y="2880360"/>
            <a:ext cx="8229600" cy="1280160"/>
          </a:xfrm>
          <a:prstGeom prst="rect">
            <a:avLst/>
          </a:prstGeom>
          <a:solidFill>
            <a:srgbClr val="1A1A1B"/>
          </a:solidFill>
          <a:ln/>
        </p:spPr>
      </p:sp>
      <p:sp>
        <p:nvSpPr>
          <p:cNvPr id="8" name="Text 6"/>
          <p:cNvSpPr/>
          <p:nvPr/>
        </p:nvSpPr>
        <p:spPr>
          <a:xfrm>
            <a:off x="640080" y="2971800"/>
            <a:ext cx="7863840" cy="228600"/>
          </a:xfrm>
          <a:prstGeom prst="rect">
            <a:avLst/>
          </a:prstGeom>
          <a:noFill/>
          <a:ln/>
        </p:spPr>
        <p:txBody>
          <a:bodyPr wrap="square" rtlCol="0" anchor="ctr"/>
          <a:lstStyle/>
          <a:p>
            <a:pPr algn="l" indent="0" marL="0">
              <a:buNone/>
            </a:pPr>
            <a:r>
              <a:rPr lang="en-US" sz="1100" b="1" dirty="0">
                <a:solidFill>
                  <a:srgbClr val="FFFFFF"/>
                </a:solidFill>
              </a:rPr>
              <a:t>Vikas_005  ▲16</a:t>
            </a:r>
            <a:endParaRPr lang="en-US" sz="1100" dirty="0"/>
          </a:p>
        </p:txBody>
      </p:sp>
      <p:sp>
        <p:nvSpPr>
          <p:cNvPr id="9" name="Text 7"/>
          <p:cNvSpPr/>
          <p:nvPr/>
        </p:nvSpPr>
        <p:spPr>
          <a:xfrm>
            <a:off x="640080" y="3246120"/>
            <a:ext cx="7863840" cy="822960"/>
          </a:xfrm>
          <a:prstGeom prst="rect">
            <a:avLst/>
          </a:prstGeom>
          <a:noFill/>
          <a:ln/>
        </p:spPr>
        <p:txBody>
          <a:bodyPr wrap="square" rtlCol="0" anchor="t"/>
          <a:lstStyle/>
          <a:p>
            <a:pPr algn="l" indent="0" marL="0">
              <a:buNone/>
            </a:pPr>
            <a:r>
              <a:rPr lang="en-US" sz="1000" dirty="0">
                <a:solidFill>
                  <a:srgbClr val="FFFFFF"/>
                </a:solidFill>
              </a:rPr>
              <a:t>People turn to free AIs because real care is slow, expensive, or confusing. But tech companies market "innovation" way faster than hospitals can implement or explain safe options. Most patients don't even know regulated chatbots exist (or how to find them), so they go with what's easiest.</a:t>
            </a:r>
            <a:endParaRPr lang="en-US" sz="1000" dirty="0"/>
          </a:p>
        </p:txBody>
      </p:sp>
      <p:sp>
        <p:nvSpPr>
          <p:cNvPr id="10" name="Shape 8"/>
          <p:cNvSpPr/>
          <p:nvPr/>
        </p:nvSpPr>
        <p:spPr>
          <a:xfrm>
            <a:off x="457200" y="4297680"/>
            <a:ext cx="8229600" cy="1554480"/>
          </a:xfrm>
          <a:prstGeom prst="rect">
            <a:avLst/>
          </a:prstGeom>
          <a:solidFill>
            <a:srgbClr val="1A1A1B"/>
          </a:solidFill>
          <a:ln/>
        </p:spPr>
      </p:sp>
      <p:sp>
        <p:nvSpPr>
          <p:cNvPr id="11" name="Text 9"/>
          <p:cNvSpPr/>
          <p:nvPr/>
        </p:nvSpPr>
        <p:spPr>
          <a:xfrm>
            <a:off x="640080" y="4389120"/>
            <a:ext cx="7863840" cy="228600"/>
          </a:xfrm>
          <a:prstGeom prst="rect">
            <a:avLst/>
          </a:prstGeom>
          <a:noFill/>
          <a:ln/>
        </p:spPr>
        <p:txBody>
          <a:bodyPr wrap="square" rtlCol="0" anchor="ctr"/>
          <a:lstStyle/>
          <a:p>
            <a:pPr algn="l" indent="0" marL="0">
              <a:buNone/>
            </a:pPr>
            <a:r>
              <a:rPr lang="en-US" sz="1100" b="1" dirty="0">
                <a:solidFill>
                  <a:srgbClr val="FFFFFF"/>
                </a:solidFill>
              </a:rPr>
              <a:t>em2241992  ▲10</a:t>
            </a:r>
            <a:endParaRPr lang="en-US" sz="1100" dirty="0"/>
          </a:p>
        </p:txBody>
      </p:sp>
      <p:sp>
        <p:nvSpPr>
          <p:cNvPr id="12" name="Text 10"/>
          <p:cNvSpPr/>
          <p:nvPr/>
        </p:nvSpPr>
        <p:spPr>
          <a:xfrm>
            <a:off x="640080" y="4663440"/>
            <a:ext cx="7863840" cy="1097280"/>
          </a:xfrm>
          <a:prstGeom prst="rect">
            <a:avLst/>
          </a:prstGeom>
          <a:noFill/>
          <a:ln/>
        </p:spPr>
        <p:txBody>
          <a:bodyPr wrap="square" rtlCol="0" anchor="t"/>
          <a:lstStyle/>
          <a:p>
            <a:pPr algn="l" indent="0" marL="0">
              <a:buNone/>
            </a:pPr>
            <a:r>
              <a:rPr lang="en-US" sz="900" dirty="0">
                <a:solidFill>
                  <a:srgbClr val="FFFFFF"/>
                </a:solidFill>
              </a:rPr>
              <a:t>I work in healthcare administration... People relying on chatgpt is unquestionably access. Getting an appointment for a specialist can take weeks or even months. Beyond that, finding providers that take your insurance along with the financial responsibility patients are left with. Chatgpt makes it accessible even at the cost of quality and safety. If it's there and someone needs the quick alternative, people inevitably do it.</a:t>
            </a:r>
            <a:endParaRPr lang="en-US" sz="900" dirty="0"/>
          </a:p>
        </p:txBody>
      </p:sp>
      <p:sp>
        <p:nvSpPr>
          <p:cNvPr id="13" name="Text 11"/>
          <p:cNvSpPr/>
          <p:nvPr/>
        </p:nvSpPr>
        <p:spPr>
          <a:xfrm>
            <a:off x="457200" y="6355080"/>
            <a:ext cx="8229600" cy="274320"/>
          </a:xfrm>
          <a:prstGeom prst="rect">
            <a:avLst/>
          </a:prstGeom>
          <a:noFill/>
          <a:ln/>
        </p:spPr>
        <p:txBody>
          <a:bodyPr wrap="square" rtlCol="0" anchor="ctr"/>
          <a:lstStyle/>
          <a:p>
            <a:pPr algn="l" indent="0" marL="0">
              <a:buNone/>
            </a:pPr>
            <a:r>
              <a:rPr lang="en-US" sz="800" dirty="0">
                <a:solidFill>
                  <a:srgbClr val="555555"/>
                </a:solidFill>
              </a:rPr>
              <a:t>404NotAFish. (2025, September). r/ArtificialInteligence.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indent="0" marL="0">
              <a:buNone/>
            </a:pPr>
            <a:r>
              <a:rPr lang="en-US" sz="2400" b="1" dirty="0">
                <a:solidFill>
                  <a:srgbClr val="1A1A2E"/>
                </a:solidFill>
              </a:rPr>
              <a:t>What The Data Says About AI Use</a:t>
            </a:r>
            <a:endParaRPr lang="en-US" sz="2400" dirty="0"/>
          </a:p>
        </p:txBody>
      </p:sp>
      <p:sp>
        <p:nvSpPr>
          <p:cNvPr id="3" name="Text 1"/>
          <p:cNvSpPr/>
          <p:nvPr/>
        </p:nvSpPr>
        <p:spPr>
          <a:xfrm>
            <a:off x="640080" y="914400"/>
            <a:ext cx="7863840" cy="457200"/>
          </a:xfrm>
          <a:prstGeom prst="rect">
            <a:avLst/>
          </a:prstGeom>
          <a:noFill/>
          <a:ln/>
        </p:spPr>
        <p:txBody>
          <a:bodyPr wrap="square" rtlCol="0" anchor="ctr"/>
          <a:lstStyle/>
          <a:p>
            <a:pPr algn="l" indent="0" marL="0">
              <a:buNone/>
            </a:pPr>
            <a:r>
              <a:rPr lang="en-US" sz="1100" dirty="0">
                <a:solidFill>
                  <a:srgbClr val="555555"/>
                </a:solidFill>
              </a:rPr>
              <a:t>Young and Low Income Americans are more likely to report not being able to access or afford healthcare as a reason they turned to AI for health advice (KFF, 2026).</a:t>
            </a:r>
            <a:endParaRPr lang="en-US" sz="1100" dirty="0"/>
          </a:p>
        </p:txBody>
      </p:sp>
      <p:sp>
        <p:nvSpPr>
          <p:cNvPr id="4" name="Text 2"/>
          <p:cNvSpPr/>
          <p:nvPr/>
        </p:nvSpPr>
        <p:spPr>
          <a:xfrm>
            <a:off x="640080" y="1417320"/>
            <a:ext cx="7863840" cy="274320"/>
          </a:xfrm>
          <a:prstGeom prst="rect">
            <a:avLst/>
          </a:prstGeom>
          <a:noFill/>
          <a:ln/>
        </p:spPr>
        <p:txBody>
          <a:bodyPr wrap="square" rtlCol="0" anchor="ctr"/>
          <a:lstStyle/>
          <a:p>
            <a:pPr algn="l" indent="0" marL="0">
              <a:buNone/>
            </a:pPr>
            <a:r>
              <a:rPr lang="en-US" sz="1000" b="1" dirty="0">
                <a:solidFill>
                  <a:srgbClr val="333333"/>
                </a:solidFill>
              </a:rPr>
              <a:t>% of U.S. adults who used AI for health advice citing each as a reason</a:t>
            </a:r>
            <a:endParaRPr lang="en-US" sz="1000" dirty="0"/>
          </a:p>
        </p:txBody>
      </p:sp>
      <p:graphicFrame>
        <p:nvGraphicFramePr>
          <p:cNvPr id="5" name="Chart 0" descr=""/>
          <p:cNvGraphicFramePr/>
          <p:nvPr/>
        </p:nvGraphicFramePr>
        <p:xfrm>
          <a:off x="457200" y="1828800"/>
          <a:ext cx="8229600" cy="38404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6355080"/>
            <a:ext cx="8229600" cy="274320"/>
          </a:xfrm>
          <a:prstGeom prst="rect">
            <a:avLst/>
          </a:prstGeom>
          <a:noFill/>
          <a:ln/>
        </p:spPr>
        <p:txBody>
          <a:bodyPr wrap="square" rtlCol="0" anchor="ctr"/>
          <a:lstStyle/>
          <a:p>
            <a:pPr indent="0" marL="0">
              <a:buNone/>
            </a:pPr>
            <a:r>
              <a:rPr lang="en-US" sz="800" dirty="0">
                <a:solidFill>
                  <a:srgbClr val="555555"/>
                </a:solidFill>
              </a:rPr>
              <a:t>KFF. (2026, March 25). One in three adults have used AI for health information and advice in the past year. KFF.</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indent="0" marL="0">
              <a:buNone/>
            </a:pPr>
            <a:r>
              <a:rPr lang="en-US" sz="2400" b="1" dirty="0">
                <a:solidFill>
                  <a:srgbClr val="1A1A2E"/>
                </a:solidFill>
              </a:rPr>
              <a:t>What The Data Says About AI Use</a:t>
            </a:r>
            <a:endParaRPr lang="en-US" sz="2400" dirty="0"/>
          </a:p>
        </p:txBody>
      </p:sp>
      <p:sp>
        <p:nvSpPr>
          <p:cNvPr id="3" name="Text 1"/>
          <p:cNvSpPr/>
          <p:nvPr/>
        </p:nvSpPr>
        <p:spPr>
          <a:xfrm>
            <a:off x="640080" y="914400"/>
            <a:ext cx="7863840" cy="457200"/>
          </a:xfrm>
          <a:prstGeom prst="rect">
            <a:avLst/>
          </a:prstGeom>
          <a:noFill/>
          <a:ln/>
        </p:spPr>
        <p:txBody>
          <a:bodyPr wrap="square" rtlCol="0" anchor="ctr"/>
          <a:lstStyle/>
          <a:p>
            <a:pPr algn="l" indent="0" marL="0">
              <a:buNone/>
            </a:pPr>
            <a:r>
              <a:rPr lang="en-US" sz="1100" dirty="0">
                <a:solidFill>
                  <a:srgbClr val="555555"/>
                </a:solidFill>
              </a:rPr>
              <a:t>More young, Black, Hispanic, and uninsured adults are using AI for advice on mental health than their counterparts (KFF, 2026).</a:t>
            </a:r>
            <a:endParaRPr lang="en-US" sz="1100" dirty="0"/>
          </a:p>
        </p:txBody>
      </p:sp>
      <p:sp>
        <p:nvSpPr>
          <p:cNvPr id="4" name="Text 2"/>
          <p:cNvSpPr/>
          <p:nvPr/>
        </p:nvSpPr>
        <p:spPr>
          <a:xfrm>
            <a:off x="640080" y="1417320"/>
            <a:ext cx="7863840" cy="274320"/>
          </a:xfrm>
          <a:prstGeom prst="rect">
            <a:avLst/>
          </a:prstGeom>
          <a:noFill/>
          <a:ln/>
        </p:spPr>
        <p:txBody>
          <a:bodyPr wrap="square" rtlCol="0" anchor="ctr"/>
          <a:lstStyle/>
          <a:p>
            <a:pPr algn="l" indent="0" marL="0">
              <a:buNone/>
            </a:pPr>
            <a:r>
              <a:rPr lang="en-US" sz="1000" b="1" dirty="0">
                <a:solidFill>
                  <a:srgbClr val="333333"/>
                </a:solidFill>
              </a:rPr>
              <a:t>% of U.S. adults who used AI for health advice, by type of health concern</a:t>
            </a:r>
            <a:endParaRPr lang="en-US" sz="1000" dirty="0"/>
          </a:p>
        </p:txBody>
      </p:sp>
      <p:graphicFrame>
        <p:nvGraphicFramePr>
          <p:cNvPr id="5" name="Chart 0" descr=""/>
          <p:cNvGraphicFramePr/>
          <p:nvPr/>
        </p:nvGraphicFramePr>
        <p:xfrm>
          <a:off x="457200" y="1828800"/>
          <a:ext cx="8229600" cy="38404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6355080"/>
            <a:ext cx="8229600" cy="274320"/>
          </a:xfrm>
          <a:prstGeom prst="rect">
            <a:avLst/>
          </a:prstGeom>
          <a:noFill/>
          <a:ln/>
        </p:spPr>
        <p:txBody>
          <a:bodyPr wrap="square" rtlCol="0" anchor="ctr"/>
          <a:lstStyle/>
          <a:p>
            <a:pPr indent="0" marL="0">
              <a:buNone/>
            </a:pPr>
            <a:r>
              <a:rPr lang="en-US" sz="800" dirty="0">
                <a:solidFill>
                  <a:srgbClr val="555555"/>
                </a:solidFill>
              </a:rPr>
              <a:t>KFF. (2026, March 25). One in three adults have used AI for health information and advice in the past year. KFF.</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2926080"/>
            <a:ext cx="8229600" cy="914400"/>
          </a:xfrm>
          <a:prstGeom prst="rect">
            <a:avLst/>
          </a:prstGeom>
          <a:noFill/>
          <a:ln/>
        </p:spPr>
        <p:txBody>
          <a:bodyPr wrap="square" rtlCol="0" anchor="ctr"/>
          <a:lstStyle/>
          <a:p>
            <a:pPr algn="ctr" indent="0" marL="0">
              <a:buNone/>
            </a:pPr>
            <a:r>
              <a:rPr lang="en-US" sz="2400" b="1" dirty="0">
                <a:solidFill>
                  <a:srgbClr val="FFFFFF"/>
                </a:solidFill>
              </a:rPr>
              <a:t>But is AI really increasing healthcare accessibility? Or is it actually doing more harm than good?</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indent="0" marL="0">
              <a:buNone/>
            </a:pPr>
            <a:r>
              <a:rPr lang="en-US" sz="2400" b="1" dirty="0">
                <a:solidFill>
                  <a:srgbClr val="1A1A2E"/>
                </a:solidFill>
              </a:rPr>
              <a:t>AI Struggles Even With Basic Prompting</a:t>
            </a:r>
            <a:endParaRPr lang="en-US" sz="2400" dirty="0"/>
          </a:p>
        </p:txBody>
      </p:sp>
      <p:sp>
        <p:nvSpPr>
          <p:cNvPr id="3" name="Text 1"/>
          <p:cNvSpPr/>
          <p:nvPr/>
        </p:nvSpPr>
        <p:spPr>
          <a:xfrm>
            <a:off x="640080" y="914400"/>
            <a:ext cx="7863840" cy="457200"/>
          </a:xfrm>
          <a:prstGeom prst="rect">
            <a:avLst/>
          </a:prstGeom>
          <a:noFill/>
          <a:ln/>
        </p:spPr>
        <p:txBody>
          <a:bodyPr wrap="square" rtlCol="0" anchor="ctr"/>
          <a:lstStyle/>
          <a:p>
            <a:pPr algn="l" indent="0" marL="0">
              <a:buNone/>
            </a:pPr>
            <a:r>
              <a:rPr lang="en-US" sz="1000" i="1" dirty="0">
                <a:solidFill>
                  <a:srgbClr val="555555"/>
                </a:solidFill>
              </a:rPr>
              <a:t>Clinical scenarios ranged from basic diagnostic reasoning and treatment selection (easy) to end-of-life decision making and ethical framework applications (very hard).</a:t>
            </a:r>
            <a:endParaRPr lang="en-US" sz="1000" dirty="0"/>
          </a:p>
        </p:txBody>
      </p:sp>
      <p:graphicFrame>
        <p:nvGraphicFramePr>
          <p:cNvPr id="4" name="Chart 0" descr=""/>
          <p:cNvGraphicFramePr/>
          <p:nvPr/>
        </p:nvGraphicFramePr>
        <p:xfrm>
          <a:off x="457200" y="1600200"/>
          <a:ext cx="411480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457200" y="1371600"/>
            <a:ext cx="4114800" cy="182880"/>
          </a:xfrm>
          <a:prstGeom prst="rect">
            <a:avLst/>
          </a:prstGeom>
          <a:noFill/>
          <a:ln/>
        </p:spPr>
        <p:txBody>
          <a:bodyPr wrap="square" rtlCol="0" anchor="ctr"/>
          <a:lstStyle/>
          <a:p>
            <a:pPr algn="ctr" indent="0" marL="0">
              <a:buNone/>
            </a:pPr>
            <a:r>
              <a:rPr lang="en-US" sz="1000" b="1" dirty="0">
                <a:solidFill>
                  <a:srgbClr val="333333"/>
                </a:solidFill>
              </a:rPr>
              <a:t>Performance by prompt strategy (% of max)</a:t>
            </a:r>
            <a:endParaRPr lang="en-US" sz="1000" dirty="0"/>
          </a:p>
        </p:txBody>
      </p:sp>
      <p:graphicFrame>
        <p:nvGraphicFramePr>
          <p:cNvPr id="6" name="Chart 1" descr=""/>
          <p:cNvGraphicFramePr/>
          <p:nvPr/>
        </p:nvGraphicFramePr>
        <p:xfrm>
          <a:off x="4754880" y="1600200"/>
          <a:ext cx="3931920" cy="4114800"/>
        </p:xfrm>
        <a:graphic xmlns:a="http://schemas.openxmlformats.org/drawingml/2006/main">
          <a:graphicData uri="http://schemas.openxmlformats.org/drawingml/2006/chart">
            <c:chart xmlns:c="http://schemas.openxmlformats.org/drawingml/2006/chart" r:id="rId2"/>
          </a:graphicData>
        </a:graphic>
      </p:graphicFrame>
      <p:sp>
        <p:nvSpPr>
          <p:cNvPr id="7" name="Text 3"/>
          <p:cNvSpPr/>
          <p:nvPr/>
        </p:nvSpPr>
        <p:spPr>
          <a:xfrm>
            <a:off x="4754880" y="1371600"/>
            <a:ext cx="3931920" cy="182880"/>
          </a:xfrm>
          <a:prstGeom prst="rect">
            <a:avLst/>
          </a:prstGeom>
          <a:noFill/>
          <a:ln/>
        </p:spPr>
        <p:txBody>
          <a:bodyPr wrap="square" rtlCol="0" anchor="ctr"/>
          <a:lstStyle/>
          <a:p>
            <a:pPr algn="ctr" indent="0" marL="0">
              <a:buNone/>
            </a:pPr>
            <a:r>
              <a:rPr lang="en-US" sz="1000" b="1" dirty="0">
                <a:solidFill>
                  <a:srgbClr val="333333"/>
                </a:solidFill>
              </a:rPr>
              <a:t>Model performance vs. case complexity (% of max)</a:t>
            </a:r>
            <a:endParaRPr lang="en-US" sz="1000" dirty="0"/>
          </a:p>
        </p:txBody>
      </p:sp>
      <p:sp>
        <p:nvSpPr>
          <p:cNvPr id="8" name="Text 4"/>
          <p:cNvSpPr/>
          <p:nvPr/>
        </p:nvSpPr>
        <p:spPr>
          <a:xfrm>
            <a:off x="457200" y="6355080"/>
            <a:ext cx="8229600" cy="274320"/>
          </a:xfrm>
          <a:prstGeom prst="rect">
            <a:avLst/>
          </a:prstGeom>
          <a:noFill/>
          <a:ln/>
        </p:spPr>
        <p:txBody>
          <a:bodyPr wrap="square" rtlCol="0" anchor="ctr"/>
          <a:lstStyle/>
          <a:p>
            <a:pPr indent="0" marL="0">
              <a:buNone/>
            </a:pPr>
            <a:r>
              <a:rPr lang="en-US" sz="800" dirty="0">
                <a:solidFill>
                  <a:srgbClr val="555555"/>
                </a:solidFill>
              </a:rPr>
              <a:t>Esmaeilzadeh (2025) BMC Medical Informatics and Decision Making, 25, 342.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indent="0" marL="0">
              <a:buNone/>
            </a:pPr>
            <a:r>
              <a:rPr lang="en-US" sz="2400" b="1" dirty="0">
                <a:solidFill>
                  <a:srgbClr val="1A1A2E"/>
                </a:solidFill>
              </a:rPr>
              <a:t>AI Perpetuates Gender and Racial Stereotypes in Disease</a:t>
            </a:r>
            <a:endParaRPr lang="en-US" sz="2400" dirty="0"/>
          </a:p>
        </p:txBody>
      </p:sp>
      <p:sp>
        <p:nvSpPr>
          <p:cNvPr id="3" name="Text 1"/>
          <p:cNvSpPr/>
          <p:nvPr/>
        </p:nvSpPr>
        <p:spPr>
          <a:xfrm>
            <a:off x="457200" y="914400"/>
            <a:ext cx="5029200" cy="228600"/>
          </a:xfrm>
          <a:prstGeom prst="rect">
            <a:avLst/>
          </a:prstGeom>
          <a:noFill/>
          <a:ln/>
        </p:spPr>
        <p:txBody>
          <a:bodyPr wrap="square" rtlCol="0" anchor="ctr"/>
          <a:lstStyle/>
          <a:p>
            <a:pPr indent="0" marL="0">
              <a:buNone/>
            </a:pPr>
            <a:r>
              <a:rPr lang="en-US" sz="900" b="1" dirty="0">
                <a:solidFill>
                  <a:srgbClr val="333333"/>
                </a:solidFill>
              </a:rPr>
              <a:t>Fig. 1 · Disease prevalence: True (USA) vs. GPT-4 estimated</a:t>
            </a:r>
            <a:endParaRPr lang="en-US" sz="900" dirty="0"/>
          </a:p>
        </p:txBody>
      </p:sp>
      <p:pic>
        <p:nvPicPr>
          <p:cNvPr id="4" name="Image 0" descr="/sessions/kind-nice-feynman/mnt/teach-in/figure1.png">    </p:cNvPr>
          <p:cNvPicPr>
            <a:picLocks noChangeAspect="1"/>
          </p:cNvPicPr>
          <p:nvPr/>
        </p:nvPicPr>
        <p:blipFill>
          <a:blip r:embed="rId1"/>
          <a:stretch>
            <a:fillRect/>
          </a:stretch>
        </p:blipFill>
        <p:spPr>
          <a:xfrm>
            <a:off x="457200" y="1188720"/>
            <a:ext cx="5029200" cy="4572000"/>
          </a:xfrm>
          <a:prstGeom prst="rect">
            <a:avLst/>
          </a:prstGeom>
        </p:spPr>
      </p:pic>
      <p:sp>
        <p:nvSpPr>
          <p:cNvPr id="5" name="Text 2"/>
          <p:cNvSpPr/>
          <p:nvPr/>
        </p:nvSpPr>
        <p:spPr>
          <a:xfrm>
            <a:off x="5669280" y="914400"/>
            <a:ext cx="3017520" cy="228600"/>
          </a:xfrm>
          <a:prstGeom prst="rect">
            <a:avLst/>
          </a:prstGeom>
          <a:noFill/>
          <a:ln/>
        </p:spPr>
        <p:txBody>
          <a:bodyPr wrap="square" rtlCol="0" anchor="ctr"/>
          <a:lstStyle/>
          <a:p>
            <a:pPr indent="0" marL="0">
              <a:buNone/>
            </a:pPr>
            <a:r>
              <a:rPr lang="en-US" sz="900" b="1" dirty="0">
                <a:solidFill>
                  <a:srgbClr val="333333"/>
                </a:solidFill>
              </a:rPr>
              <a:t>Fig. 4A · Likert ratings of patient dishonesty by demographic</a:t>
            </a:r>
            <a:endParaRPr lang="en-US" sz="900" dirty="0"/>
          </a:p>
        </p:txBody>
      </p:sp>
      <p:pic>
        <p:nvPicPr>
          <p:cNvPr id="6" name="Image 1" descr="/sessions/kind-nice-feynman/mnt/teach-in/figure4a.png">    </p:cNvPr>
          <p:cNvPicPr>
            <a:picLocks noChangeAspect="1"/>
          </p:cNvPicPr>
          <p:nvPr/>
        </p:nvPicPr>
        <p:blipFill>
          <a:blip r:embed="rId2"/>
          <a:stretch>
            <a:fillRect/>
          </a:stretch>
        </p:blipFill>
        <p:spPr>
          <a:xfrm>
            <a:off x="5669280" y="1188720"/>
            <a:ext cx="3017520" cy="4572000"/>
          </a:xfrm>
          <a:prstGeom prst="rect">
            <a:avLst/>
          </a:prstGeom>
        </p:spPr>
      </p:pic>
      <p:sp>
        <p:nvSpPr>
          <p:cNvPr id="7" name="Text 3"/>
          <p:cNvSpPr/>
          <p:nvPr/>
        </p:nvSpPr>
        <p:spPr>
          <a:xfrm>
            <a:off x="457200" y="6355080"/>
            <a:ext cx="8229600" cy="274320"/>
          </a:xfrm>
          <a:prstGeom prst="rect">
            <a:avLst/>
          </a:prstGeom>
          <a:noFill/>
          <a:ln/>
        </p:spPr>
        <p:txBody>
          <a:bodyPr wrap="square" rtlCol="0" anchor="ctr"/>
          <a:lstStyle/>
          <a:p>
            <a:pPr indent="0" marL="0">
              <a:buNone/>
            </a:pPr>
            <a:r>
              <a:rPr lang="en-US" sz="800" dirty="0">
                <a:solidFill>
                  <a:srgbClr val="555555"/>
                </a:solidFill>
              </a:rPr>
              <a:t>Zack, T., et al. (2024). Assessing the potential of GPT-4 to perpetuate racial and gender biases in health care. The Lancet Digital Health, 6, e12–e22.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indent="0" marL="0">
              <a:buNone/>
            </a:pPr>
            <a:r>
              <a:rPr lang="en-US" sz="2400" b="1" dirty="0">
                <a:solidFill>
                  <a:srgbClr val="1A1A2E"/>
                </a:solidFill>
              </a:rPr>
              <a:t>Ethical Considerations</a:t>
            </a:r>
            <a:endParaRPr lang="en-US" sz="2400" dirty="0"/>
          </a:p>
        </p:txBody>
      </p:sp>
      <p:sp>
        <p:nvSpPr>
          <p:cNvPr id="3" name="Shape 1"/>
          <p:cNvSpPr/>
          <p:nvPr/>
        </p:nvSpPr>
        <p:spPr>
          <a:xfrm>
            <a:off x="457200" y="1097280"/>
            <a:ext cx="3931920" cy="2560320"/>
          </a:xfrm>
          <a:prstGeom prst="rect">
            <a:avLst/>
          </a:prstGeom>
          <a:solidFill>
            <a:srgbClr val="F5F3FF"/>
          </a:solidFill>
          <a:ln w="25400">
            <a:solidFill>
              <a:srgbClr val="4F46E5"/>
            </a:solidFill>
            <a:prstDash val="solid"/>
          </a:ln>
        </p:spPr>
      </p:sp>
      <p:sp>
        <p:nvSpPr>
          <p:cNvPr id="4" name="Text 2"/>
          <p:cNvSpPr/>
          <p:nvPr/>
        </p:nvSpPr>
        <p:spPr>
          <a:xfrm>
            <a:off x="640080" y="1234440"/>
            <a:ext cx="3566160" cy="320040"/>
          </a:xfrm>
          <a:prstGeom prst="rect">
            <a:avLst/>
          </a:prstGeom>
          <a:noFill/>
          <a:ln/>
        </p:spPr>
        <p:txBody>
          <a:bodyPr wrap="square" rtlCol="0" anchor="ctr"/>
          <a:lstStyle/>
          <a:p>
            <a:pPr algn="l" indent="0" marL="0">
              <a:buNone/>
            </a:pPr>
            <a:r>
              <a:rPr lang="en-US" sz="1400" b="1" dirty="0">
                <a:solidFill>
                  <a:srgbClr val="4F46E5"/>
                </a:solidFill>
              </a:rPr>
              <a:t>Autonomy</a:t>
            </a:r>
            <a:endParaRPr lang="en-US" sz="1400" dirty="0"/>
          </a:p>
        </p:txBody>
      </p:sp>
      <p:sp>
        <p:nvSpPr>
          <p:cNvPr id="5" name="Text 3"/>
          <p:cNvSpPr/>
          <p:nvPr/>
        </p:nvSpPr>
        <p:spPr>
          <a:xfrm>
            <a:off x="640080" y="1600200"/>
            <a:ext cx="3566160" cy="228600"/>
          </a:xfrm>
          <a:prstGeom prst="rect">
            <a:avLst/>
          </a:prstGeom>
          <a:noFill/>
          <a:ln/>
        </p:spPr>
        <p:txBody>
          <a:bodyPr wrap="square" rtlCol="0" anchor="ctr"/>
          <a:lstStyle/>
          <a:p>
            <a:pPr algn="l" indent="0" marL="0">
              <a:buNone/>
            </a:pPr>
            <a:r>
              <a:rPr lang="en-US" sz="1000" b="1" dirty="0">
                <a:solidFill>
                  <a:srgbClr val="4F46E5"/>
                </a:solidFill>
              </a:rPr>
              <a:t>✓ Pro(s)</a:t>
            </a:r>
            <a:endParaRPr lang="en-US" sz="1000" dirty="0"/>
          </a:p>
        </p:txBody>
      </p:sp>
      <p:sp>
        <p:nvSpPr>
          <p:cNvPr id="6" name="Text 4"/>
          <p:cNvSpPr/>
          <p:nvPr/>
        </p:nvSpPr>
        <p:spPr>
          <a:xfrm>
            <a:off x="731520" y="1874520"/>
            <a:ext cx="3474720" cy="731520"/>
          </a:xfrm>
          <a:prstGeom prst="rect">
            <a:avLst/>
          </a:prstGeom>
          <a:noFill/>
          <a:ln/>
        </p:spPr>
        <p:txBody>
          <a:bodyPr wrap="square" rtlCol="0" anchor="t"/>
          <a:lstStyle/>
          <a:p>
            <a:pPr algn="l" indent="0" marL="0">
              <a:buNone/>
            </a:pPr>
            <a:r>
              <a:rPr lang="en-US" sz="900" dirty="0">
                <a:solidFill>
                  <a:srgbClr val="333333"/>
                </a:solidFill>
              </a:rPr>
              <a:t>Personalizes responses to reflect individual user needs</a:t>
            </a:r>
            <a:endParaRPr lang="en-US" sz="900" dirty="0"/>
          </a:p>
        </p:txBody>
      </p:sp>
      <p:sp>
        <p:nvSpPr>
          <p:cNvPr id="7" name="Text 5"/>
          <p:cNvSpPr/>
          <p:nvPr/>
        </p:nvSpPr>
        <p:spPr>
          <a:xfrm>
            <a:off x="640080" y="2651760"/>
            <a:ext cx="3566160" cy="228600"/>
          </a:xfrm>
          <a:prstGeom prst="rect">
            <a:avLst/>
          </a:prstGeom>
          <a:noFill/>
          <a:ln/>
        </p:spPr>
        <p:txBody>
          <a:bodyPr wrap="square" rtlCol="0" anchor="ctr"/>
          <a:lstStyle/>
          <a:p>
            <a:pPr algn="l" indent="0" marL="0">
              <a:buNone/>
            </a:pPr>
            <a:r>
              <a:rPr lang="en-US" sz="1000" b="1" dirty="0">
                <a:solidFill>
                  <a:srgbClr val="DC2626"/>
                </a:solidFill>
              </a:rPr>
              <a:t>✗ Con(s)</a:t>
            </a:r>
            <a:endParaRPr lang="en-US" sz="1000" dirty="0"/>
          </a:p>
        </p:txBody>
      </p:sp>
      <p:sp>
        <p:nvSpPr>
          <p:cNvPr id="8" name="Text 6"/>
          <p:cNvSpPr/>
          <p:nvPr/>
        </p:nvSpPr>
        <p:spPr>
          <a:xfrm>
            <a:off x="731520" y="2926080"/>
            <a:ext cx="3474720" cy="868680"/>
          </a:xfrm>
          <a:prstGeom prst="rect">
            <a:avLst/>
          </a:prstGeom>
          <a:noFill/>
          <a:ln/>
        </p:spPr>
        <p:txBody>
          <a:bodyPr wrap="square" rtlCol="0" anchor="t"/>
          <a:lstStyle/>
          <a:p>
            <a:pPr algn="l" indent="0" marL="0">
              <a:buNone/>
            </a:pPr>
            <a:r>
              <a:rPr lang="en-US" sz="900" dirty="0">
                <a:solidFill>
                  <a:srgbClr val="333333"/>
                </a:solidFill>
              </a:rPr>
              <a:t>Source access is limited by paywalls unaffordable for some; Reinforcing minority disease stereotypes can hinder social mobility</a:t>
            </a:r>
            <a:endParaRPr lang="en-US" sz="900" dirty="0"/>
          </a:p>
        </p:txBody>
      </p:sp>
      <p:sp>
        <p:nvSpPr>
          <p:cNvPr id="9" name="Shape 7"/>
          <p:cNvSpPr/>
          <p:nvPr/>
        </p:nvSpPr>
        <p:spPr>
          <a:xfrm>
            <a:off x="4754880" y="1097280"/>
            <a:ext cx="3931920" cy="2560320"/>
          </a:xfrm>
          <a:prstGeom prst="rect">
            <a:avLst/>
          </a:prstGeom>
          <a:solidFill>
            <a:srgbClr val="ECFDF5"/>
          </a:solidFill>
          <a:ln w="25400">
            <a:solidFill>
              <a:srgbClr val="059669"/>
            </a:solidFill>
            <a:prstDash val="solid"/>
          </a:ln>
        </p:spPr>
      </p:sp>
      <p:sp>
        <p:nvSpPr>
          <p:cNvPr id="10" name="Text 8"/>
          <p:cNvSpPr/>
          <p:nvPr/>
        </p:nvSpPr>
        <p:spPr>
          <a:xfrm>
            <a:off x="4937760" y="1234440"/>
            <a:ext cx="3566160" cy="320040"/>
          </a:xfrm>
          <a:prstGeom prst="rect">
            <a:avLst/>
          </a:prstGeom>
          <a:noFill/>
          <a:ln/>
        </p:spPr>
        <p:txBody>
          <a:bodyPr wrap="square" rtlCol="0" anchor="ctr"/>
          <a:lstStyle/>
          <a:p>
            <a:pPr algn="l" indent="0" marL="0">
              <a:buNone/>
            </a:pPr>
            <a:r>
              <a:rPr lang="en-US" sz="1400" b="1" dirty="0">
                <a:solidFill>
                  <a:srgbClr val="059669"/>
                </a:solidFill>
              </a:rPr>
              <a:t>Beneficence</a:t>
            </a:r>
            <a:endParaRPr lang="en-US" sz="1400" dirty="0"/>
          </a:p>
        </p:txBody>
      </p:sp>
      <p:sp>
        <p:nvSpPr>
          <p:cNvPr id="11" name="Text 9"/>
          <p:cNvSpPr/>
          <p:nvPr/>
        </p:nvSpPr>
        <p:spPr>
          <a:xfrm>
            <a:off x="4937760" y="1600200"/>
            <a:ext cx="3566160" cy="228600"/>
          </a:xfrm>
          <a:prstGeom prst="rect">
            <a:avLst/>
          </a:prstGeom>
          <a:noFill/>
          <a:ln/>
        </p:spPr>
        <p:txBody>
          <a:bodyPr wrap="square" rtlCol="0" anchor="ctr"/>
          <a:lstStyle/>
          <a:p>
            <a:pPr algn="l" indent="0" marL="0">
              <a:buNone/>
            </a:pPr>
            <a:r>
              <a:rPr lang="en-US" sz="1000" b="1" dirty="0">
                <a:solidFill>
                  <a:srgbClr val="059669"/>
                </a:solidFill>
              </a:rPr>
              <a:t>✓ Pro(s)</a:t>
            </a:r>
            <a:endParaRPr lang="en-US" sz="1000" dirty="0"/>
          </a:p>
        </p:txBody>
      </p:sp>
      <p:sp>
        <p:nvSpPr>
          <p:cNvPr id="12" name="Text 10"/>
          <p:cNvSpPr/>
          <p:nvPr/>
        </p:nvSpPr>
        <p:spPr>
          <a:xfrm>
            <a:off x="5029200" y="1874520"/>
            <a:ext cx="3474720" cy="731520"/>
          </a:xfrm>
          <a:prstGeom prst="rect">
            <a:avLst/>
          </a:prstGeom>
          <a:noFill/>
          <a:ln/>
        </p:spPr>
        <p:txBody>
          <a:bodyPr wrap="square" rtlCol="0" anchor="t"/>
          <a:lstStyle/>
          <a:p>
            <a:pPr algn="l" indent="0" marL="0">
              <a:buNone/>
            </a:pPr>
            <a:r>
              <a:rPr lang="en-US" sz="900" dirty="0">
                <a:solidFill>
                  <a:srgbClr val="333333"/>
                </a:solidFill>
              </a:rPr>
              <a:t>Educates marginalized populations with limited healthcare access; Helps users navigate the healthcare system and insurance</a:t>
            </a:r>
            <a:endParaRPr lang="en-US" sz="900" dirty="0"/>
          </a:p>
        </p:txBody>
      </p:sp>
      <p:sp>
        <p:nvSpPr>
          <p:cNvPr id="13" name="Text 11"/>
          <p:cNvSpPr/>
          <p:nvPr/>
        </p:nvSpPr>
        <p:spPr>
          <a:xfrm>
            <a:off x="4937760" y="2651760"/>
            <a:ext cx="3566160" cy="228600"/>
          </a:xfrm>
          <a:prstGeom prst="rect">
            <a:avLst/>
          </a:prstGeom>
          <a:noFill/>
          <a:ln/>
        </p:spPr>
        <p:txBody>
          <a:bodyPr wrap="square" rtlCol="0" anchor="ctr"/>
          <a:lstStyle/>
          <a:p>
            <a:pPr algn="l" indent="0" marL="0">
              <a:buNone/>
            </a:pPr>
            <a:r>
              <a:rPr lang="en-US" sz="1000" b="1" dirty="0">
                <a:solidFill>
                  <a:srgbClr val="DC2626"/>
                </a:solidFill>
              </a:rPr>
              <a:t>✗ Con(s)</a:t>
            </a:r>
            <a:endParaRPr lang="en-US" sz="1000" dirty="0"/>
          </a:p>
        </p:txBody>
      </p:sp>
      <p:sp>
        <p:nvSpPr>
          <p:cNvPr id="14" name="Text 12"/>
          <p:cNvSpPr/>
          <p:nvPr/>
        </p:nvSpPr>
        <p:spPr>
          <a:xfrm>
            <a:off x="5029200" y="2926080"/>
            <a:ext cx="3474720" cy="868680"/>
          </a:xfrm>
          <a:prstGeom prst="rect">
            <a:avLst/>
          </a:prstGeom>
          <a:noFill/>
          <a:ln/>
        </p:spPr>
        <p:txBody>
          <a:bodyPr wrap="square" rtlCol="0" anchor="t"/>
          <a:lstStyle/>
          <a:p>
            <a:pPr algn="l" indent="0" marL="0">
              <a:buNone/>
            </a:pPr>
            <a:r>
              <a:rPr lang="en-US" sz="900" dirty="0">
                <a:solidFill>
                  <a:srgbClr val="333333"/>
                </a:solidFill>
              </a:rPr>
              <a:t>Unclear when complexity of information becomes harmful</a:t>
            </a:r>
            <a:endParaRPr lang="en-US" sz="900" dirty="0"/>
          </a:p>
        </p:txBody>
      </p:sp>
      <p:sp>
        <p:nvSpPr>
          <p:cNvPr id="15" name="Shape 13"/>
          <p:cNvSpPr/>
          <p:nvPr/>
        </p:nvSpPr>
        <p:spPr>
          <a:xfrm>
            <a:off x="457200" y="3840480"/>
            <a:ext cx="3931920" cy="2560320"/>
          </a:xfrm>
          <a:prstGeom prst="rect">
            <a:avLst/>
          </a:prstGeom>
          <a:solidFill>
            <a:srgbClr val="FEF2F2"/>
          </a:solidFill>
          <a:ln w="25400">
            <a:solidFill>
              <a:srgbClr val="DC2626"/>
            </a:solidFill>
            <a:prstDash val="solid"/>
          </a:ln>
        </p:spPr>
      </p:sp>
      <p:sp>
        <p:nvSpPr>
          <p:cNvPr id="16" name="Text 14"/>
          <p:cNvSpPr/>
          <p:nvPr/>
        </p:nvSpPr>
        <p:spPr>
          <a:xfrm>
            <a:off x="640080" y="3977640"/>
            <a:ext cx="3566160" cy="320040"/>
          </a:xfrm>
          <a:prstGeom prst="rect">
            <a:avLst/>
          </a:prstGeom>
          <a:noFill/>
          <a:ln/>
        </p:spPr>
        <p:txBody>
          <a:bodyPr wrap="square" rtlCol="0" anchor="ctr"/>
          <a:lstStyle/>
          <a:p>
            <a:pPr algn="l" indent="0" marL="0">
              <a:buNone/>
            </a:pPr>
            <a:r>
              <a:rPr lang="en-US" sz="1400" b="1" dirty="0">
                <a:solidFill>
                  <a:srgbClr val="DC2626"/>
                </a:solidFill>
              </a:rPr>
              <a:t>Nonmaleficence</a:t>
            </a:r>
            <a:endParaRPr lang="en-US" sz="1400" dirty="0"/>
          </a:p>
        </p:txBody>
      </p:sp>
      <p:sp>
        <p:nvSpPr>
          <p:cNvPr id="17" name="Text 15"/>
          <p:cNvSpPr/>
          <p:nvPr/>
        </p:nvSpPr>
        <p:spPr>
          <a:xfrm>
            <a:off x="640080" y="4343400"/>
            <a:ext cx="3566160" cy="228600"/>
          </a:xfrm>
          <a:prstGeom prst="rect">
            <a:avLst/>
          </a:prstGeom>
          <a:noFill/>
          <a:ln/>
        </p:spPr>
        <p:txBody>
          <a:bodyPr wrap="square" rtlCol="0" anchor="ctr"/>
          <a:lstStyle/>
          <a:p>
            <a:pPr algn="l" indent="0" marL="0">
              <a:buNone/>
            </a:pPr>
            <a:r>
              <a:rPr lang="en-US" sz="1000" b="1" dirty="0">
                <a:solidFill>
                  <a:srgbClr val="DC2626"/>
                </a:solidFill>
              </a:rPr>
              <a:t>✗ Con(s)</a:t>
            </a:r>
            <a:endParaRPr lang="en-US" sz="1000" dirty="0"/>
          </a:p>
        </p:txBody>
      </p:sp>
      <p:sp>
        <p:nvSpPr>
          <p:cNvPr id="18" name="Text 16"/>
          <p:cNvSpPr/>
          <p:nvPr/>
        </p:nvSpPr>
        <p:spPr>
          <a:xfrm>
            <a:off x="731520" y="4617720"/>
            <a:ext cx="3474720" cy="868680"/>
          </a:xfrm>
          <a:prstGeom prst="rect">
            <a:avLst/>
          </a:prstGeom>
          <a:noFill/>
          <a:ln/>
        </p:spPr>
        <p:txBody>
          <a:bodyPr wrap="square" rtlCol="0" anchor="t"/>
          <a:lstStyle/>
          <a:p>
            <a:pPr algn="l" indent="0" marL="0">
              <a:buNone/>
            </a:pPr>
            <a:r>
              <a:rPr lang="en-US" sz="900" dirty="0">
                <a:solidFill>
                  <a:srgbClr val="333333"/>
                </a:solidFill>
              </a:rPr>
              <a:t>Inaccurate info worsens distress; Cannot provide direct care; Lacks moral reasoning for clinical ethics</a:t>
            </a:r>
            <a:endParaRPr lang="en-US" sz="900" dirty="0"/>
          </a:p>
        </p:txBody>
      </p:sp>
      <p:sp>
        <p:nvSpPr>
          <p:cNvPr id="19" name="Shape 17"/>
          <p:cNvSpPr/>
          <p:nvPr/>
        </p:nvSpPr>
        <p:spPr>
          <a:xfrm>
            <a:off x="4754880" y="3840480"/>
            <a:ext cx="3931920" cy="2560320"/>
          </a:xfrm>
          <a:prstGeom prst="rect">
            <a:avLst/>
          </a:prstGeom>
          <a:solidFill>
            <a:srgbClr val="FFFBEB"/>
          </a:solidFill>
          <a:ln w="25400">
            <a:solidFill>
              <a:srgbClr val="D97706"/>
            </a:solidFill>
            <a:prstDash val="solid"/>
          </a:ln>
        </p:spPr>
      </p:sp>
      <p:sp>
        <p:nvSpPr>
          <p:cNvPr id="20" name="Text 18"/>
          <p:cNvSpPr/>
          <p:nvPr/>
        </p:nvSpPr>
        <p:spPr>
          <a:xfrm>
            <a:off x="4937760" y="3977640"/>
            <a:ext cx="3566160" cy="320040"/>
          </a:xfrm>
          <a:prstGeom prst="rect">
            <a:avLst/>
          </a:prstGeom>
          <a:noFill/>
          <a:ln/>
        </p:spPr>
        <p:txBody>
          <a:bodyPr wrap="square" rtlCol="0" anchor="ctr"/>
          <a:lstStyle/>
          <a:p>
            <a:pPr algn="l" indent="0" marL="0">
              <a:buNone/>
            </a:pPr>
            <a:r>
              <a:rPr lang="en-US" sz="1400" b="1" dirty="0">
                <a:solidFill>
                  <a:srgbClr val="D97706"/>
                </a:solidFill>
              </a:rPr>
              <a:t>Justice</a:t>
            </a:r>
            <a:endParaRPr lang="en-US" sz="1400" dirty="0"/>
          </a:p>
        </p:txBody>
      </p:sp>
      <p:sp>
        <p:nvSpPr>
          <p:cNvPr id="21" name="Text 19"/>
          <p:cNvSpPr/>
          <p:nvPr/>
        </p:nvSpPr>
        <p:spPr>
          <a:xfrm>
            <a:off x="4937760" y="4343400"/>
            <a:ext cx="3566160" cy="228600"/>
          </a:xfrm>
          <a:prstGeom prst="rect">
            <a:avLst/>
          </a:prstGeom>
          <a:noFill/>
          <a:ln/>
        </p:spPr>
        <p:txBody>
          <a:bodyPr wrap="square" rtlCol="0" anchor="ctr"/>
          <a:lstStyle/>
          <a:p>
            <a:pPr algn="l" indent="0" marL="0">
              <a:buNone/>
            </a:pPr>
            <a:r>
              <a:rPr lang="en-US" sz="1000" b="1" dirty="0">
                <a:solidFill>
                  <a:srgbClr val="D97706"/>
                </a:solidFill>
              </a:rPr>
              <a:t>✓ Pro(s)</a:t>
            </a:r>
            <a:endParaRPr lang="en-US" sz="1000" dirty="0"/>
          </a:p>
        </p:txBody>
      </p:sp>
      <p:sp>
        <p:nvSpPr>
          <p:cNvPr id="22" name="Text 20"/>
          <p:cNvSpPr/>
          <p:nvPr/>
        </p:nvSpPr>
        <p:spPr>
          <a:xfrm>
            <a:off x="5029200" y="4617720"/>
            <a:ext cx="3474720" cy="731520"/>
          </a:xfrm>
          <a:prstGeom prst="rect">
            <a:avLst/>
          </a:prstGeom>
          <a:noFill/>
          <a:ln/>
        </p:spPr>
        <p:txBody>
          <a:bodyPr wrap="square" rtlCol="0" anchor="t"/>
          <a:lstStyle/>
          <a:p>
            <a:pPr algn="l" indent="0" marL="0">
              <a:buNone/>
            </a:pPr>
            <a:r>
              <a:rPr lang="en-US" sz="900" dirty="0">
                <a:solidFill>
                  <a:srgbClr val="333333"/>
                </a:solidFill>
              </a:rPr>
              <a:t>Free plans provide 24/7 guidance for those in "medical deserts"</a:t>
            </a:r>
            <a:endParaRPr lang="en-US" sz="900" dirty="0"/>
          </a:p>
        </p:txBody>
      </p:sp>
      <p:sp>
        <p:nvSpPr>
          <p:cNvPr id="23" name="Text 21"/>
          <p:cNvSpPr/>
          <p:nvPr/>
        </p:nvSpPr>
        <p:spPr>
          <a:xfrm>
            <a:off x="4937760" y="5394960"/>
            <a:ext cx="3566160" cy="228600"/>
          </a:xfrm>
          <a:prstGeom prst="rect">
            <a:avLst/>
          </a:prstGeom>
          <a:noFill/>
          <a:ln/>
        </p:spPr>
        <p:txBody>
          <a:bodyPr wrap="square" rtlCol="0" anchor="ctr"/>
          <a:lstStyle/>
          <a:p>
            <a:pPr algn="l" indent="0" marL="0">
              <a:buNone/>
            </a:pPr>
            <a:r>
              <a:rPr lang="en-US" sz="1000" b="1" dirty="0">
                <a:solidFill>
                  <a:srgbClr val="DC2626"/>
                </a:solidFill>
              </a:rPr>
              <a:t>✗ Con(s)</a:t>
            </a:r>
            <a:endParaRPr lang="en-US" sz="1000" dirty="0"/>
          </a:p>
        </p:txBody>
      </p:sp>
      <p:sp>
        <p:nvSpPr>
          <p:cNvPr id="24" name="Text 22"/>
          <p:cNvSpPr/>
          <p:nvPr/>
        </p:nvSpPr>
        <p:spPr>
          <a:xfrm>
            <a:off x="5029200" y="5669280"/>
            <a:ext cx="3474720" cy="868680"/>
          </a:xfrm>
          <a:prstGeom prst="rect">
            <a:avLst/>
          </a:prstGeom>
          <a:noFill/>
          <a:ln/>
        </p:spPr>
        <p:txBody>
          <a:bodyPr wrap="square" rtlCol="0" anchor="t"/>
          <a:lstStyle/>
          <a:p>
            <a:pPr algn="l" indent="0" marL="0">
              <a:buNone/>
            </a:pPr>
            <a:r>
              <a:rPr lang="en-US" sz="900" dirty="0">
                <a:solidFill>
                  <a:srgbClr val="333333"/>
                </a:solidFill>
              </a:rPr>
              <a:t>Historical training data may miss how symptoms present in marginalized groups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indent="0" marL="0">
              <a:buNone/>
            </a:pPr>
            <a:r>
              <a:rPr lang="en-US" sz="2400" b="1" dirty="0">
                <a:solidFill>
                  <a:srgbClr val="1A1A2E"/>
                </a:solidFill>
              </a:rPr>
              <a:t>So What?</a:t>
            </a:r>
            <a:endParaRPr lang="en-US" sz="2400" dirty="0"/>
          </a:p>
        </p:txBody>
      </p:sp>
      <p:sp>
        <p:nvSpPr>
          <p:cNvPr id="3" name="Text 1"/>
          <p:cNvSpPr/>
          <p:nvPr/>
        </p:nvSpPr>
        <p:spPr>
          <a:xfrm>
            <a:off x="640080" y="914400"/>
            <a:ext cx="7863840" cy="274320"/>
          </a:xfrm>
          <a:prstGeom prst="rect">
            <a:avLst/>
          </a:prstGeom>
          <a:noFill/>
          <a:ln/>
        </p:spPr>
        <p:txBody>
          <a:bodyPr wrap="square" rtlCol="0" anchor="ctr"/>
          <a:lstStyle/>
          <a:p>
            <a:pPr algn="l" indent="0" marL="0">
              <a:buNone/>
            </a:pPr>
            <a:r>
              <a:rPr lang="en-US" sz="1100" dirty="0">
                <a:solidFill>
                  <a:srgbClr val="333333"/>
                </a:solidFill>
              </a:rPr>
              <a:t>There are steps you can take right now as a student to combat this issue.</a:t>
            </a:r>
            <a:endParaRPr lang="en-US" sz="1100" dirty="0"/>
          </a:p>
        </p:txBody>
      </p:sp>
      <p:sp>
        <p:nvSpPr>
          <p:cNvPr id="4" name="Text 2"/>
          <p:cNvSpPr/>
          <p:nvPr/>
        </p:nvSpPr>
        <p:spPr>
          <a:xfrm>
            <a:off x="640080" y="1280160"/>
            <a:ext cx="7863840" cy="228600"/>
          </a:xfrm>
          <a:prstGeom prst="rect">
            <a:avLst/>
          </a:prstGeom>
          <a:noFill/>
          <a:ln/>
        </p:spPr>
        <p:txBody>
          <a:bodyPr wrap="square" rtlCol="0" anchor="ctr"/>
          <a:lstStyle/>
          <a:p>
            <a:pPr algn="l" indent="0" marL="0">
              <a:buNone/>
            </a:pPr>
            <a:r>
              <a:rPr lang="en-US" sz="1200" b="1" dirty="0">
                <a:solidFill>
                  <a:srgbClr val="1A1A2E"/>
                </a:solidFill>
              </a:rPr>
              <a:t>We need to:</a:t>
            </a:r>
            <a:endParaRPr lang="en-US" sz="1200" dirty="0"/>
          </a:p>
        </p:txBody>
      </p:sp>
      <p:sp>
        <p:nvSpPr>
          <p:cNvPr id="5" name="Text 3"/>
          <p:cNvSpPr/>
          <p:nvPr/>
        </p:nvSpPr>
        <p:spPr>
          <a:xfrm>
            <a:off x="731520" y="1645920"/>
            <a:ext cx="7680960" cy="274320"/>
          </a:xfrm>
          <a:prstGeom prst="rect">
            <a:avLst/>
          </a:prstGeom>
          <a:noFill/>
          <a:ln/>
        </p:spPr>
        <p:txBody>
          <a:bodyPr wrap="square" rtlCol="0" anchor="ctr"/>
          <a:lstStyle/>
          <a:p>
            <a:pPr algn="l" indent="0" marL="0">
              <a:buNone/>
            </a:pPr>
            <a:r>
              <a:rPr lang="en-US" sz="1100" b="1" dirty="0">
                <a:solidFill>
                  <a:srgbClr val="1A1A2E"/>
                </a:solidFill>
              </a:rPr>
              <a:t>1. Enhance information literacy within marginalized communities</a:t>
            </a:r>
            <a:endParaRPr lang="en-US" sz="1100" dirty="0"/>
          </a:p>
        </p:txBody>
      </p:sp>
      <p:sp>
        <p:nvSpPr>
          <p:cNvPr id="6" name="Text 4"/>
          <p:cNvSpPr/>
          <p:nvPr/>
        </p:nvSpPr>
        <p:spPr>
          <a:xfrm>
            <a:off x="914400" y="1965960"/>
            <a:ext cx="7498080" cy="228600"/>
          </a:xfrm>
          <a:prstGeom prst="rect">
            <a:avLst/>
          </a:prstGeom>
          <a:noFill/>
          <a:ln/>
        </p:spPr>
        <p:txBody>
          <a:bodyPr wrap="square" rtlCol="0" anchor="ctr"/>
          <a:lstStyle/>
          <a:p>
            <a:pPr algn="l" indent="0" marL="0">
              <a:buNone/>
            </a:pPr>
            <a:r>
              <a:rPr lang="en-US" sz="1000" i="1" dirty="0">
                <a:solidFill>
                  <a:srgbClr val="555555"/>
                </a:solidFill>
              </a:rPr>
              <a:t>↳ Well-documented evidence of a "digital divide"</a:t>
            </a:r>
            <a:endParaRPr lang="en-US" sz="1000" dirty="0"/>
          </a:p>
        </p:txBody>
      </p:sp>
      <p:sp>
        <p:nvSpPr>
          <p:cNvPr id="7" name="Shape 5"/>
          <p:cNvSpPr/>
          <p:nvPr/>
        </p:nvSpPr>
        <p:spPr>
          <a:xfrm>
            <a:off x="731520" y="2286000"/>
            <a:ext cx="2377440" cy="731520"/>
          </a:xfrm>
          <a:prstGeom prst="rect">
            <a:avLst/>
          </a:prstGeom>
          <a:solidFill>
            <a:srgbClr val="D4CCFF"/>
          </a:solidFill>
          <a:ln w="12700">
            <a:solidFill>
              <a:srgbClr val="2A14A6"/>
            </a:solidFill>
            <a:prstDash val="solid"/>
          </a:ln>
        </p:spPr>
      </p:sp>
      <p:sp>
        <p:nvSpPr>
          <p:cNvPr id="8" name="Text 6"/>
          <p:cNvSpPr/>
          <p:nvPr/>
        </p:nvSpPr>
        <p:spPr>
          <a:xfrm>
            <a:off x="868680" y="2377440"/>
            <a:ext cx="2103120" cy="548640"/>
          </a:xfrm>
          <a:prstGeom prst="rect">
            <a:avLst/>
          </a:prstGeom>
          <a:noFill/>
          <a:ln/>
        </p:spPr>
        <p:txBody>
          <a:bodyPr wrap="square" rtlCol="0" anchor="ctr"/>
          <a:lstStyle/>
          <a:p>
            <a:pPr algn="ctr" indent="0" marL="0">
              <a:buNone/>
            </a:pPr>
            <a:r>
              <a:rPr lang="en-US" sz="900" b="1" dirty="0">
                <a:solidFill>
                  <a:srgbClr val="1A1A2E"/>
                </a:solidFill>
              </a:rPr>
              <a:t>200,000 students in Idaho without a computer</a:t>
            </a:r>
            <a:endParaRPr lang="en-US" sz="900" dirty="0"/>
          </a:p>
        </p:txBody>
      </p:sp>
      <p:sp>
        <p:nvSpPr>
          <p:cNvPr id="9" name="Shape 7"/>
          <p:cNvSpPr/>
          <p:nvPr/>
        </p:nvSpPr>
        <p:spPr>
          <a:xfrm>
            <a:off x="3246120" y="2286000"/>
            <a:ext cx="2377440" cy="731520"/>
          </a:xfrm>
          <a:prstGeom prst="rect">
            <a:avLst/>
          </a:prstGeom>
          <a:solidFill>
            <a:srgbClr val="D4CCFF"/>
          </a:solidFill>
          <a:ln w="12700">
            <a:solidFill>
              <a:srgbClr val="2A14A6"/>
            </a:solidFill>
            <a:prstDash val="solid"/>
          </a:ln>
        </p:spPr>
      </p:sp>
      <p:sp>
        <p:nvSpPr>
          <p:cNvPr id="10" name="Text 8"/>
          <p:cNvSpPr/>
          <p:nvPr/>
        </p:nvSpPr>
        <p:spPr>
          <a:xfrm>
            <a:off x="3383280" y="2377440"/>
            <a:ext cx="2103120" cy="548640"/>
          </a:xfrm>
          <a:prstGeom prst="rect">
            <a:avLst/>
          </a:prstGeom>
          <a:noFill/>
          <a:ln/>
        </p:spPr>
        <p:txBody>
          <a:bodyPr wrap="square" rtlCol="0" anchor="ctr"/>
          <a:lstStyle/>
          <a:p>
            <a:pPr algn="ctr" indent="0" marL="0">
              <a:buNone/>
            </a:pPr>
            <a:r>
              <a:rPr lang="en-US" sz="900" b="1" dirty="0">
                <a:solidFill>
                  <a:srgbClr val="1A1A2E"/>
                </a:solidFill>
              </a:rPr>
              <a:t>30,000 students in Idaho without Wi-Fi</a:t>
            </a:r>
            <a:endParaRPr lang="en-US" sz="900" dirty="0"/>
          </a:p>
        </p:txBody>
      </p:sp>
      <p:sp>
        <p:nvSpPr>
          <p:cNvPr id="11" name="Shape 9"/>
          <p:cNvSpPr/>
          <p:nvPr/>
        </p:nvSpPr>
        <p:spPr>
          <a:xfrm>
            <a:off x="5760720" y="2286000"/>
            <a:ext cx="2377440" cy="731520"/>
          </a:xfrm>
          <a:prstGeom prst="rect">
            <a:avLst/>
          </a:prstGeom>
          <a:solidFill>
            <a:srgbClr val="D4CCFF"/>
          </a:solidFill>
          <a:ln w="12700">
            <a:solidFill>
              <a:srgbClr val="2A14A6"/>
            </a:solidFill>
            <a:prstDash val="solid"/>
          </a:ln>
        </p:spPr>
      </p:sp>
      <p:sp>
        <p:nvSpPr>
          <p:cNvPr id="12" name="Text 10"/>
          <p:cNvSpPr/>
          <p:nvPr/>
        </p:nvSpPr>
        <p:spPr>
          <a:xfrm>
            <a:off x="5897880" y="2377440"/>
            <a:ext cx="2103120" cy="548640"/>
          </a:xfrm>
          <a:prstGeom prst="rect">
            <a:avLst/>
          </a:prstGeom>
          <a:noFill/>
          <a:ln/>
        </p:spPr>
        <p:txBody>
          <a:bodyPr wrap="square" rtlCol="0" anchor="ctr"/>
          <a:lstStyle/>
          <a:p>
            <a:pPr algn="ctr" indent="0" marL="0">
              <a:buNone/>
            </a:pPr>
            <a:r>
              <a:rPr lang="en-US" sz="900" b="1" dirty="0">
                <a:solidFill>
                  <a:srgbClr val="1A1A2E"/>
                </a:solidFill>
              </a:rPr>
              <a:t>~11% of Idaho's 1.8M residents affected</a:t>
            </a:r>
            <a:endParaRPr lang="en-US" sz="900" dirty="0"/>
          </a:p>
        </p:txBody>
      </p:sp>
      <p:sp>
        <p:nvSpPr>
          <p:cNvPr id="13" name="Text 11"/>
          <p:cNvSpPr/>
          <p:nvPr/>
        </p:nvSpPr>
        <p:spPr>
          <a:xfrm>
            <a:off x="731520" y="3108960"/>
            <a:ext cx="7498080" cy="228600"/>
          </a:xfrm>
          <a:prstGeom prst="rect">
            <a:avLst/>
          </a:prstGeom>
          <a:noFill/>
          <a:ln/>
        </p:spPr>
        <p:txBody>
          <a:bodyPr wrap="square" rtlCol="0" anchor="ctr"/>
          <a:lstStyle/>
          <a:p>
            <a:pPr algn="l" indent="0" marL="0">
              <a:buNone/>
            </a:pPr>
            <a:r>
              <a:rPr lang="en-US" sz="800" i="1" dirty="0">
                <a:solidFill>
                  <a:srgbClr val="555555"/>
                </a:solidFill>
              </a:rPr>
              <a:t>Sanders &amp; Scanlon (2021)</a:t>
            </a:r>
            <a:endParaRPr lang="en-US" sz="800" dirty="0"/>
          </a:p>
        </p:txBody>
      </p:sp>
      <p:sp>
        <p:nvSpPr>
          <p:cNvPr id="14" name="Text 12"/>
          <p:cNvSpPr/>
          <p:nvPr/>
        </p:nvSpPr>
        <p:spPr>
          <a:xfrm>
            <a:off x="731520" y="3474720"/>
            <a:ext cx="7680960" cy="320040"/>
          </a:xfrm>
          <a:prstGeom prst="rect">
            <a:avLst/>
          </a:prstGeom>
          <a:noFill/>
          <a:ln/>
        </p:spPr>
        <p:txBody>
          <a:bodyPr wrap="square" rtlCol="0" anchor="ctr"/>
          <a:lstStyle/>
          <a:p>
            <a:pPr algn="l" indent="0" marL="0">
              <a:buNone/>
            </a:pPr>
            <a:r>
              <a:rPr lang="en-US" sz="1100" b="1" dirty="0">
                <a:solidFill>
                  <a:srgbClr val="1A1A2E"/>
                </a:solidFill>
              </a:rPr>
              <a:t>2. Encourage scholars to research the effects of AI use for health guidance on health outcomes</a:t>
            </a:r>
            <a:endParaRPr lang="en-US" sz="1100" dirty="0"/>
          </a:p>
        </p:txBody>
      </p:sp>
      <p:sp>
        <p:nvSpPr>
          <p:cNvPr id="15" name="Text 13"/>
          <p:cNvSpPr/>
          <p:nvPr/>
        </p:nvSpPr>
        <p:spPr>
          <a:xfrm>
            <a:off x="914400" y="3840480"/>
            <a:ext cx="7498080" cy="228600"/>
          </a:xfrm>
          <a:prstGeom prst="rect">
            <a:avLst/>
          </a:prstGeom>
          <a:noFill/>
          <a:ln/>
        </p:spPr>
        <p:txBody>
          <a:bodyPr wrap="square" rtlCol="0" anchor="ctr"/>
          <a:lstStyle/>
          <a:p>
            <a:pPr algn="l" indent="0" marL="0">
              <a:buNone/>
            </a:pPr>
            <a:r>
              <a:rPr lang="en-US" sz="1000" i="1" dirty="0">
                <a:solidFill>
                  <a:srgbClr val="555555"/>
                </a:solidFill>
              </a:rPr>
              <a:t>↳ Currently no studies that evaluate this</a:t>
            </a:r>
            <a:endParaRPr lang="en-US" sz="1000" dirty="0"/>
          </a:p>
        </p:txBody>
      </p:sp>
      <p:sp>
        <p:nvSpPr>
          <p:cNvPr id="16" name="Text 14"/>
          <p:cNvSpPr/>
          <p:nvPr/>
        </p:nvSpPr>
        <p:spPr>
          <a:xfrm>
            <a:off x="731520" y="4251960"/>
            <a:ext cx="7680960" cy="320040"/>
          </a:xfrm>
          <a:prstGeom prst="rect">
            <a:avLst/>
          </a:prstGeom>
          <a:noFill/>
          <a:ln/>
        </p:spPr>
        <p:txBody>
          <a:bodyPr wrap="square" rtlCol="0" anchor="ctr"/>
          <a:lstStyle/>
          <a:p>
            <a:pPr algn="l" indent="0" marL="0">
              <a:buNone/>
            </a:pPr>
            <a:r>
              <a:rPr lang="en-US" sz="1100" b="1" dirty="0">
                <a:solidFill>
                  <a:srgbClr val="1A1A2E"/>
                </a:solidFill>
              </a:rPr>
              <a:t>3. Demand AI developers and enterprises to open the "black box"</a:t>
            </a:r>
            <a:endParaRPr lang="en-US" sz="1100" dirty="0"/>
          </a:p>
        </p:txBody>
      </p:sp>
      <p:sp>
        <p:nvSpPr>
          <p:cNvPr id="17" name="Text 15"/>
          <p:cNvSpPr/>
          <p:nvPr/>
        </p:nvSpPr>
        <p:spPr>
          <a:xfrm>
            <a:off x="914400" y="4617720"/>
            <a:ext cx="7498080" cy="365760"/>
          </a:xfrm>
          <a:prstGeom prst="rect">
            <a:avLst/>
          </a:prstGeom>
          <a:noFill/>
          <a:ln/>
        </p:spPr>
        <p:txBody>
          <a:bodyPr wrap="square" rtlCol="0" anchor="ctr"/>
          <a:lstStyle/>
          <a:p>
            <a:pPr algn="l" indent="0" marL="0">
              <a:buNone/>
            </a:pPr>
            <a:r>
              <a:rPr lang="en-US" sz="1000" i="1" dirty="0">
                <a:solidFill>
                  <a:srgbClr val="555555"/>
                </a:solidFill>
              </a:rPr>
              <a:t>↳ How developers train their models with data and how this data is obtained are not publicly available</a:t>
            </a:r>
            <a:endParaRPr lang="en-US" sz="1000" dirty="0"/>
          </a:p>
        </p:txBody>
      </p:sp>
      <p:sp>
        <p:nvSpPr>
          <p:cNvPr id="18" name="Text 16"/>
          <p:cNvSpPr/>
          <p:nvPr/>
        </p:nvSpPr>
        <p:spPr>
          <a:xfrm>
            <a:off x="914400" y="5029200"/>
            <a:ext cx="7498080" cy="228600"/>
          </a:xfrm>
          <a:prstGeom prst="rect">
            <a:avLst/>
          </a:prstGeom>
          <a:noFill/>
          <a:ln/>
        </p:spPr>
        <p:txBody>
          <a:bodyPr wrap="square" rtlCol="0" anchor="ctr"/>
          <a:lstStyle/>
          <a:p>
            <a:pPr algn="l" indent="0" marL="0">
              <a:buNone/>
            </a:pPr>
            <a:r>
              <a:rPr lang="en-US" sz="800" i="1" dirty="0">
                <a:solidFill>
                  <a:srgbClr val="555555"/>
                </a:solidFill>
              </a:rPr>
              <a:t>Hardinges et al. (2023)</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indent="0" marL="0">
              <a:buNone/>
            </a:pPr>
            <a:r>
              <a:rPr lang="en-US" sz="2400" b="1" dirty="0">
                <a:solidFill>
                  <a:srgbClr val="1A1A2E"/>
                </a:solidFill>
              </a:rPr>
              <a:t>Key Takeaways (Handout)</a:t>
            </a:r>
            <a:endParaRPr lang="en-US" sz="2400" dirty="0"/>
          </a:p>
        </p:txBody>
      </p:sp>
      <p:pic>
        <p:nvPicPr>
          <p:cNvPr id="3" name="Image 0" descr="/sessions/kind-nice-feynman/mnt/teach-in/handout-qr.png">    </p:cNvPr>
          <p:cNvPicPr>
            <a:picLocks noChangeAspect="1"/>
          </p:cNvPicPr>
          <p:nvPr/>
        </p:nvPicPr>
        <p:blipFill>
          <a:blip r:embed="rId1"/>
          <a:stretch>
            <a:fillRect/>
          </a:stretch>
        </p:blipFill>
        <p:spPr>
          <a:xfrm>
            <a:off x="3200400" y="1371600"/>
            <a:ext cx="2743200" cy="2743200"/>
          </a:xfrm>
          <a:prstGeom prst="rect">
            <a:avLst/>
          </a:prstGeom>
        </p:spPr>
      </p:pic>
      <p:sp>
        <p:nvSpPr>
          <p:cNvPr id="4" name="Text 1"/>
          <p:cNvSpPr/>
          <p:nvPr/>
        </p:nvSpPr>
        <p:spPr>
          <a:xfrm>
            <a:off x="457200" y="4297680"/>
            <a:ext cx="8229600" cy="274320"/>
          </a:xfrm>
          <a:prstGeom prst="rect">
            <a:avLst/>
          </a:prstGeom>
          <a:noFill/>
          <a:ln/>
        </p:spPr>
        <p:txBody>
          <a:bodyPr wrap="square" rtlCol="0" anchor="ctr"/>
          <a:lstStyle/>
          <a:p>
            <a:pPr algn="ctr" indent="0" marL="0">
              <a:buNone/>
            </a:pPr>
            <a:r>
              <a:rPr lang="en-US" sz="1400" b="1" dirty="0">
                <a:solidFill>
                  <a:srgbClr val="1A1A2E"/>
                </a:solidFill>
              </a:rPr>
              <a:t>Scan to access the handout</a:t>
            </a:r>
            <a:endParaRPr lang="en-US" sz="1400" dirty="0"/>
          </a:p>
        </p:txBody>
      </p:sp>
      <p:sp>
        <p:nvSpPr>
          <p:cNvPr id="5" name="Text 2"/>
          <p:cNvSpPr/>
          <p:nvPr/>
        </p:nvSpPr>
        <p:spPr>
          <a:xfrm>
            <a:off x="457200" y="4663440"/>
            <a:ext cx="8229600" cy="274320"/>
          </a:xfrm>
          <a:prstGeom prst="rect">
            <a:avLst/>
          </a:prstGeom>
          <a:noFill/>
          <a:ln/>
        </p:spPr>
        <p:txBody>
          <a:bodyPr wrap="square" rtlCol="0" anchor="ctr"/>
          <a:lstStyle/>
          <a:p>
            <a:pPr algn="ctr" indent="0" marL="0">
              <a:buNone/>
            </a:pPr>
            <a:r>
              <a:rPr lang="en-US" sz="1200" dirty="0">
                <a:solidFill>
                  <a:srgbClr val="555555"/>
                </a:solidFill>
              </a:rPr>
              <a:t>mathewkang2004.github.io/teach-in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indent="0" marL="0">
              <a:buNone/>
            </a:pPr>
            <a:r>
              <a:rPr lang="en-US" sz="2400" b="1" dirty="0">
                <a:solidFill>
                  <a:srgbClr val="1A1A2E"/>
                </a:solidFill>
              </a:rPr>
              <a:t>References</a:t>
            </a:r>
            <a:endParaRPr lang="en-US" sz="2400" dirty="0"/>
          </a:p>
        </p:txBody>
      </p:sp>
      <p:sp>
        <p:nvSpPr>
          <p:cNvPr id="3" name="Text 1"/>
          <p:cNvSpPr/>
          <p:nvPr/>
        </p:nvSpPr>
        <p:spPr>
          <a:xfrm>
            <a:off x="548640" y="1005840"/>
            <a:ext cx="8046720" cy="685800"/>
          </a:xfrm>
          <a:prstGeom prst="rect">
            <a:avLst/>
          </a:prstGeom>
          <a:noFill/>
          <a:ln/>
        </p:spPr>
        <p:txBody>
          <a:bodyPr wrap="square" rtlCol="0" anchor="t"/>
          <a:lstStyle/>
          <a:p>
            <a:pPr algn="l" indent="0" marL="0">
              <a:buNone/>
            </a:pPr>
            <a:r>
              <a:rPr lang="en-US" sz="900" dirty="0">
                <a:solidFill>
                  <a:srgbClr val="333333"/>
                </a:solidFill>
              </a:rPr>
              <a:t>404NotAFish. (2025, September). Why is people relying on AI for healthcare advice? [Reddit post]. r/ArtificialInteligence. https://www.reddit.com/r/ArtificialInteligence/comments/1np6ujy/</a:t>
            </a:r>
            <a:endParaRPr lang="en-US" sz="900" dirty="0"/>
          </a:p>
        </p:txBody>
      </p:sp>
      <p:sp>
        <p:nvSpPr>
          <p:cNvPr id="4" name="Text 2"/>
          <p:cNvSpPr/>
          <p:nvPr/>
        </p:nvSpPr>
        <p:spPr>
          <a:xfrm>
            <a:off x="548640" y="1737360"/>
            <a:ext cx="8046720" cy="685800"/>
          </a:xfrm>
          <a:prstGeom prst="rect">
            <a:avLst/>
          </a:prstGeom>
          <a:noFill/>
          <a:ln/>
        </p:spPr>
        <p:txBody>
          <a:bodyPr wrap="square" rtlCol="0" anchor="t"/>
          <a:lstStyle/>
          <a:p>
            <a:pPr algn="l" indent="0" marL="0">
              <a:buNone/>
            </a:pPr>
            <a:r>
              <a:rPr lang="en-US" sz="900" dirty="0">
                <a:solidFill>
                  <a:srgbClr val="333333"/>
                </a:solidFill>
              </a:rPr>
              <a:t>Esmaeilzadeh, P. (2025). Ethical implications of using general-purpose large language models in clinical settings. BMC Medical Informatics and Decision Making, 25, 342. https://doi.org/10.1186/s12911-025-03182-6</a:t>
            </a:r>
            <a:endParaRPr lang="en-US" sz="900" dirty="0"/>
          </a:p>
        </p:txBody>
      </p:sp>
      <p:sp>
        <p:nvSpPr>
          <p:cNvPr id="5" name="Text 3"/>
          <p:cNvSpPr/>
          <p:nvPr/>
        </p:nvSpPr>
        <p:spPr>
          <a:xfrm>
            <a:off x="548640" y="2468880"/>
            <a:ext cx="8046720" cy="685800"/>
          </a:xfrm>
          <a:prstGeom prst="rect">
            <a:avLst/>
          </a:prstGeom>
          <a:noFill/>
          <a:ln/>
        </p:spPr>
        <p:txBody>
          <a:bodyPr wrap="square" rtlCol="0" anchor="t"/>
          <a:lstStyle/>
          <a:p>
            <a:pPr algn="l" indent="0" marL="0">
              <a:buNone/>
            </a:pPr>
            <a:r>
              <a:rPr lang="en-US" sz="900" dirty="0">
                <a:solidFill>
                  <a:srgbClr val="333333"/>
                </a:solidFill>
              </a:rPr>
              <a:t>Hardinges, J., Simperl, E., &amp; Shadbolt, N. (2023). We must fix the lack of transparency around the data used to train foundation models. Harvard Data Science Review, Special Issue 5. https://hdsr.mitpress.mit.edu/pub/xau9dza3/release/2</a:t>
            </a:r>
            <a:endParaRPr lang="en-US" sz="900" dirty="0"/>
          </a:p>
        </p:txBody>
      </p:sp>
      <p:sp>
        <p:nvSpPr>
          <p:cNvPr id="6" name="Text 4"/>
          <p:cNvSpPr/>
          <p:nvPr/>
        </p:nvSpPr>
        <p:spPr>
          <a:xfrm>
            <a:off x="548640" y="3200400"/>
            <a:ext cx="8046720" cy="685800"/>
          </a:xfrm>
          <a:prstGeom prst="rect">
            <a:avLst/>
          </a:prstGeom>
          <a:noFill/>
          <a:ln/>
        </p:spPr>
        <p:txBody>
          <a:bodyPr wrap="square" rtlCol="0" anchor="t"/>
          <a:lstStyle/>
          <a:p>
            <a:pPr algn="l" indent="0" marL="0">
              <a:buNone/>
            </a:pPr>
            <a:r>
              <a:rPr lang="en-US" sz="900" dirty="0">
                <a:solidFill>
                  <a:srgbClr val="333333"/>
                </a:solidFill>
              </a:rPr>
              <a:t>KFF. (2026, March 25). One in three adults have used AI for health information and advice in the past year. KFF. https://www.kff.org/...</a:t>
            </a:r>
            <a:endParaRPr lang="en-US" sz="900" dirty="0"/>
          </a:p>
        </p:txBody>
      </p:sp>
      <p:sp>
        <p:nvSpPr>
          <p:cNvPr id="7" name="Text 5"/>
          <p:cNvSpPr/>
          <p:nvPr/>
        </p:nvSpPr>
        <p:spPr>
          <a:xfrm>
            <a:off x="548640" y="3931920"/>
            <a:ext cx="8046720" cy="685800"/>
          </a:xfrm>
          <a:prstGeom prst="rect">
            <a:avLst/>
          </a:prstGeom>
          <a:noFill/>
          <a:ln/>
        </p:spPr>
        <p:txBody>
          <a:bodyPr wrap="square" rtlCol="0" anchor="t"/>
          <a:lstStyle/>
          <a:p>
            <a:pPr algn="l" indent="0" marL="0">
              <a:buNone/>
            </a:pPr>
            <a:r>
              <a:rPr lang="en-US" sz="900" dirty="0">
                <a:solidFill>
                  <a:srgbClr val="333333"/>
                </a:solidFill>
              </a:rPr>
              <a:t>Sanders, C. K., &amp; Scanlon, E. (2021). The digital divide is a human rights issue. Journal of Human Rights and Social Work, 6, 130–143. https://doi.org/10.1007/s41134-020-00147-9</a:t>
            </a:r>
            <a:endParaRPr lang="en-US" sz="900" dirty="0"/>
          </a:p>
        </p:txBody>
      </p:sp>
      <p:sp>
        <p:nvSpPr>
          <p:cNvPr id="8" name="Text 6"/>
          <p:cNvSpPr/>
          <p:nvPr/>
        </p:nvSpPr>
        <p:spPr>
          <a:xfrm>
            <a:off x="548640" y="4663440"/>
            <a:ext cx="8046720" cy="685800"/>
          </a:xfrm>
          <a:prstGeom prst="rect">
            <a:avLst/>
          </a:prstGeom>
          <a:noFill/>
          <a:ln/>
        </p:spPr>
        <p:txBody>
          <a:bodyPr wrap="square" rtlCol="0" anchor="t"/>
          <a:lstStyle/>
          <a:p>
            <a:pPr algn="l" indent="0" marL="0">
              <a:buNone/>
            </a:pPr>
            <a:r>
              <a:rPr lang="en-US" sz="900" dirty="0">
                <a:solidFill>
                  <a:srgbClr val="333333"/>
                </a:solidFill>
              </a:rPr>
              <a:t>Wardle, C., Urbani, S., &amp; Wang, E. (2025). Evolving health information–seeking behavior and trust in health information sources. Journal of Medical Internet Research, 27, e79961. https://doi.org/10.2196/79961</a:t>
            </a:r>
            <a:endParaRPr lang="en-US" sz="900" dirty="0"/>
          </a:p>
        </p:txBody>
      </p:sp>
      <p:sp>
        <p:nvSpPr>
          <p:cNvPr id="9" name="Text 7"/>
          <p:cNvSpPr/>
          <p:nvPr/>
        </p:nvSpPr>
        <p:spPr>
          <a:xfrm>
            <a:off x="548640" y="5394960"/>
            <a:ext cx="8046720" cy="685800"/>
          </a:xfrm>
          <a:prstGeom prst="rect">
            <a:avLst/>
          </a:prstGeom>
          <a:noFill/>
          <a:ln/>
        </p:spPr>
        <p:txBody>
          <a:bodyPr wrap="square" rtlCol="0" anchor="t"/>
          <a:lstStyle/>
          <a:p>
            <a:pPr algn="l" indent="0" marL="0">
              <a:buNone/>
            </a:pPr>
            <a:r>
              <a:rPr lang="en-US" sz="900" dirty="0">
                <a:solidFill>
                  <a:srgbClr val="333333"/>
                </a:solidFill>
              </a:rPr>
              <a:t>Zack, T., Lehman, E., Suzgun, M., Rodriguez, J. A., Celi, L. A., Gichoya, J., Jurafsky, D., Szolovits, P., Bates, D. W., Abdulnour, R.-E. E., Butte, A. J., &amp; Alsentzer, E. (2024). Assessing the potential of GPT-4 to perpetuate racial and gender biases in health care: A model evaluation study. The Lancet Digital Health, 6, e12–e22. https://doi.org/10.1016/S2589-7500(23)00225-X</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2026-04-13T03:48:27Z</dcterms:created>
  <dcterms:modified xsi:type="dcterms:W3CDTF">2026-04-13T03:48:27Z</dcterms:modified>
</cp:coreProperties>
</file>